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4c4b3abc5e4bed" /><Relationship Type="http://schemas.openxmlformats.org/officeDocument/2006/relationships/extended-properties" Target="/docProps/app.xml" Id="R8dd304219463499d" /><Relationship Type="http://schemas.openxmlformats.org/officeDocument/2006/relationships/officeDocument" Target="/ppt/presentation.xml" Id="Rd3bc8d1a88d34181" /></Relationships>
</file>

<file path=ppt/presentation.xml><?xml version="1.0" encoding="utf-8"?>
<p:presentation xmlns:p="http://schemas.openxmlformats.org/presentationml/2006/main">
  <p:sldMasterIdLst>
    <p:sldMasterId xmlns:r="http://schemas.openxmlformats.org/officeDocument/2006/relationships" id="2147483648" r:id="R04ba963afee9479f"/>
  </p:sldMasterIdLst>
  <p:notesMasterIdLst>
    <p:notesMasterId xmlns:r="http://schemas.openxmlformats.org/officeDocument/2006/relationships" r:id="R78ddf02b0c2947f1"/>
  </p:notesMasterIdLst>
  <p:sldIdLst>
    <p:sldId xmlns:r="http://schemas.openxmlformats.org/officeDocument/2006/relationships" id="256" r:id="Re089d3514dac4962"/>
    <p:sldId xmlns:r="http://schemas.openxmlformats.org/officeDocument/2006/relationships" id="257" r:id="Rdf139e045acb4ea4"/>
    <p:sldId xmlns:r="http://schemas.openxmlformats.org/officeDocument/2006/relationships" id="258" r:id="R19aacef728124cec"/>
    <p:sldId xmlns:r="http://schemas.openxmlformats.org/officeDocument/2006/relationships" id="259" r:id="Rf57f0557c64c490a"/>
    <p:sldId xmlns:r="http://schemas.openxmlformats.org/officeDocument/2006/relationships" id="260" r:id="Rbc0165e712ee480f"/>
    <p:sldId xmlns:r="http://schemas.openxmlformats.org/officeDocument/2006/relationships" id="261" r:id="Rb5eb260ba33445bd"/>
    <p:sldId xmlns:r="http://schemas.openxmlformats.org/officeDocument/2006/relationships" id="262" r:id="R49a591c063c847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9207d560ce4c58" /><Relationship Type="http://schemas.openxmlformats.org/officeDocument/2006/relationships/slideMaster" Target="/ppt/slideMasters/slideMaster1.xml" Id="R04ba963afee9479f" /><Relationship Type="http://schemas.openxmlformats.org/officeDocument/2006/relationships/notesMaster" Target="/ppt/notesMasters/notesMaster1.xml" Id="R78ddf02b0c2947f1" /><Relationship Type="http://schemas.openxmlformats.org/officeDocument/2006/relationships/presProps" Target="/ppt/presProps.xml" Id="R0482d5bad4424288" /><Relationship Type="http://schemas.openxmlformats.org/officeDocument/2006/relationships/tableStyles" Target="/ppt/tableStyles.xml" Id="R61f23a69a81d459e" /><Relationship Type="http://schemas.openxmlformats.org/officeDocument/2006/relationships/slide" Target="/ppt/slides/slide1.xml" Id="Re089d3514dac4962" /><Relationship Type="http://schemas.openxmlformats.org/officeDocument/2006/relationships/slide" Target="/ppt/slides/slide2.xml" Id="Rdf139e045acb4ea4" /><Relationship Type="http://schemas.openxmlformats.org/officeDocument/2006/relationships/slide" Target="/ppt/slides/slide3.xml" Id="R19aacef728124cec" /><Relationship Type="http://schemas.openxmlformats.org/officeDocument/2006/relationships/slide" Target="/ppt/slides/slide4.xml" Id="Rf57f0557c64c490a" /><Relationship Type="http://schemas.openxmlformats.org/officeDocument/2006/relationships/slide" Target="/ppt/slides/slide5.xml" Id="Rbc0165e712ee480f" /><Relationship Type="http://schemas.openxmlformats.org/officeDocument/2006/relationships/slide" Target="/ppt/slides/slide6.xml" Id="Rb5eb260ba33445bd" /><Relationship Type="http://schemas.openxmlformats.org/officeDocument/2006/relationships/slide" Target="/ppt/slides/slide7.xml" Id="R49a591c063c847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82c06741b046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0120c377fe4335" /><Relationship Type="http://schemas.openxmlformats.org/officeDocument/2006/relationships/notesMaster" Target="/ppt/notesMasters/notesMaster1.xml" Id="Rad029d630af641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ab540c9fed44bd" /><Relationship Type="http://schemas.openxmlformats.org/officeDocument/2006/relationships/notesMaster" Target="/ppt/notesMasters/notesMaster1.xml" Id="R92a27617afda447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41e9a3a31546b2" /><Relationship Type="http://schemas.openxmlformats.org/officeDocument/2006/relationships/notesMaster" Target="/ppt/notesMasters/notesMaster1.xml" Id="Rdab7a11b50bc41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3ef8dbd5f84358" /><Relationship Type="http://schemas.openxmlformats.org/officeDocument/2006/relationships/notesMaster" Target="/ppt/notesMasters/notesMaster1.xml" Id="R39d24c2d1d1d439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67c878f7ea4d85" /><Relationship Type="http://schemas.openxmlformats.org/officeDocument/2006/relationships/notesMaster" Target="/ppt/notesMasters/notesMaster1.xml" Id="R156f07247b7640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33440146b84ffe" /><Relationship Type="http://schemas.openxmlformats.org/officeDocument/2006/relationships/notesMaster" Target="/ppt/notesMasters/notesMaster1.xml" Id="R81ed4d9aac894f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eaea2673284aa8" /><Relationship Type="http://schemas.openxmlformats.org/officeDocument/2006/relationships/notesMaster" Target="/ppt/notesMasters/notesMaster1.xml" Id="R19262dba20fb46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Vian: AMMA is a parent with root access. Team Sharma Ji Ka Bot.</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20 seconds. Team origin story supplied in the brief, not a research claim.</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Capabilities, 20 seconds. Email and Calendar code is complete; live Google verification is pending OAuth credentials and consent. Instagram compose has local fixture coverage; real Steel profile and UI verification is pending the API key. The final Share remains human-controlled.</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Escalation, 25 seconds. Thresholds match frozen src/config.ts: nudging 12h, invasive 6h, hostile 2h, armed 15 minutes. At zero the state becomes fired, but the loop does not publish. Mark done restores Calendar, clears captions and releases the armed browser.</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30 seconds. This is the target deployment. Today the Node loop and JSON state run locally. Steel Browser uses persistent profiles and CDP. Steel Computer preview/checkpoint access is not available or validated yet. Google contains Calendar and Gmail; disk contains state, photos and undo journal. OpenRouter supplies wording.</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Wildcard, 45 seconds. The three original points, verbatim:</a:t>
            </a:r>
          </a:p>
          <a:p xmlns:a="http://schemas.openxmlformats.org/drawingml/2006/main">
            <a:r>
              <a:t>It lives for 18 hours. The behaviour is a slow escalation over real time, not a request/response. There is no "run" — there's a thing that's been awake since yesterday afternoon.</a:t>
            </a:r>
          </a:p>
          <a:p xmlns:a="http://schemas.openxmlformats.org/drawingml/2006/main">
            <a:r>
              <a:t>It accumulates. The photo vault, the escalating roast drafts, the undo log of every calendar event it has vandalised. All on its own disk, all growing.</a:t>
            </a:r>
          </a:p>
          <a:p xmlns:a="http://schemas.openxmlformats.org/drawingml/2006/main">
            <a:r>
              <a:t>Its state is a savable object. We checkpoint the exact moment before it posts — browser session live, photo attached, caption written, button lit — and restore that same loaded moment fresh for each judge. Checkpoints save memory and processes, not just disk. Each judge personally decides whether to press send.</a:t>
            </a:r>
          </a:p>
          <a:p xmlns:a="http://schemas.openxmlformats.org/drawingml/2006/main">
            <a:r>
              <a:t>Status qualification: the third point is the intended demonstration, NOT a completed claim. Live overnight run and Steel Computer checkpoint/restore validation remain pending. Keep this caveat visible until evidence exists.</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90 seconds. Switch to the dashboard. For the current safe rehearsal use AMMA_OFFLINE=true and a new AMMA_STATE_PATH shared by loop and dashboard. Start npm run sim. Point out nudges, Calendar changes and caption escalation. Offline mode does not open Instagram. Show the fixture verification result separately, never as a live Instagram success. Once credentials and the live compose are verified, open the real Steel viewer and stop before Share. Use mark-done to release and restore. Vian narrates; CS operates; EE watches time and answers scope questions.</a:t>
            </a:r>
          </a:p>
          <a:p xmlns:a="http://schemas.openxmlformats.org/drawingml/2006/main">
            <a:r>
              <a:t>Source: UTWAT_Master_doc.md, sections 1, 2, 8 and 13. Implementation status checked September 12,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d5d186d6a24b0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8cc4eff20d4c87" /><Relationship Type="http://schemas.openxmlformats.org/officeDocument/2006/relationships/slideLayout" Target="/ppt/slideLayouts/slideLayout1.xml" Id="R0b3c588f511f49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3c588f511f49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9b06d9bac2c4435" /><Relationship Type="http://schemas.openxmlformats.org/officeDocument/2006/relationships/notesSlide" Target="/ppt/notesSlides/notesSlide1.xml" Id="R04b6958111444f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f34eaef0984777" /><Relationship Type="http://schemas.openxmlformats.org/officeDocument/2006/relationships/notesSlide" Target="/ppt/notesSlides/notesSlide2.xml" Id="R86c31867f93e4a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8b3d795316422d" /><Relationship Type="http://schemas.openxmlformats.org/officeDocument/2006/relationships/notesSlide" Target="/ppt/notesSlides/notesSlide3.xml" Id="R616943865fff49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bc5cecd89c4750" /><Relationship Type="http://schemas.openxmlformats.org/officeDocument/2006/relationships/notesSlide" Target="/ppt/notesSlides/notesSlide4.xml" Id="R102b3ec0f3f248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7f746f51e204679" /><Relationship Type="http://schemas.openxmlformats.org/officeDocument/2006/relationships/notesSlide" Target="/ppt/notesSlides/notesSlide5.xml" Id="R613ce093078440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8d29c914953466b" /><Relationship Type="http://schemas.openxmlformats.org/officeDocument/2006/relationships/notesSlide" Target="/ppt/notesSlides/notesSlide6.xml" Id="Rac8139862ad64e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96fb8f157a49d4" /><Relationship Type="http://schemas.openxmlformats.org/officeDocument/2006/relationships/notesSlide" Target="/ppt/notesSlides/notesSlide7.xml" Id="Rf12f243041e043bc" /></Relationships>
</file>

<file path=ppt/slides/slide1.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63504E1-DD5F-4BB3-BCED-73EBC0E72634}"/>
              </a:ext>
            </a:extLst>
          </p:cNvPr>
          <p:cNvSpPr>
            <a:spLocks xmlns:a="http://schemas.openxmlformats.org/drawingml/2006/main" noGrp="1"/>
          </p:cNvSpPr>
          <p:nvPr/>
        </p:nvSpPr>
        <p:spPr>
          <a:xfrm xmlns:a="http://schemas.openxmlformats.org/drawingml/2006/main">
            <a:off x="685800" y="1524000"/>
            <a:ext cx="10477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0" b="1">
                <a:solidFill>
                  <a:srgbClr val="F2EFE9"/>
                </a:solidFill>
                <a:latin typeface="Helvetica Neue"/>
                <a:ea typeface="Helvetica Neue"/>
                <a:cs typeface="Helvetica Neue"/>
              </a:defRPr>
            </a:pPr>
            <a:r>
              <a:rPr sz="13500" b="1">
                <a:solidFill>
                  <a:srgbClr val="F2EFE9"/>
                </a:solidFill>
                <a:latin typeface="Helvetica Neue"/>
                <a:ea typeface="Helvetica Neue"/>
                <a:cs typeface="Helvetica Neue"/>
              </a:rPr>
              <a:t>AMMA</a:t>
            </a:r>
          </a:p>
        </p:txBody>
      </p:sp>
      <p:sp>
        <p:nvSpPr>
          <p:cNvPr id="2" name="">
            <a:extLst xmlns:a="http://schemas.openxmlformats.org/drawingml/2006/main">
              <a:ext uri="{FF2B5EF4-FFF2-40B4-BE49-F238E27FC236}">
                <a16:creationId xmlns:a16="http://schemas.microsoft.com/office/drawing/2014/main" id="{E260A33E-0060-417F-97C2-B6B46EB35E49}"/>
              </a:ext>
            </a:extLst>
          </p:cNvPr>
          <p:cNvSpPr>
            <a:spLocks xmlns:a="http://schemas.openxmlformats.org/drawingml/2006/main" noGrp="1"/>
          </p:cNvSpPr>
          <p:nvPr/>
        </p:nvSpPr>
        <p:spPr>
          <a:xfrm xmlns:a="http://schemas.openxmlformats.org/drawingml/2006/main">
            <a:off x="781050" y="40957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0">
                <a:solidFill>
                  <a:srgbClr val="FF9A62"/>
                </a:solidFill>
                <a:latin typeface="Helvetica Neue"/>
                <a:ea typeface="Helvetica Neue"/>
                <a:cs typeface="Helvetica Neue"/>
              </a:defRPr>
            </a:pPr>
            <a:r>
              <a:rPr sz="4200" b="0">
                <a:solidFill>
                  <a:srgbClr val="FF9A62"/>
                </a:solidFill>
                <a:latin typeface="Helvetica Neue"/>
                <a:ea typeface="Helvetica Neue"/>
                <a:cs typeface="Helvetica Neue"/>
              </a:rPr>
              <a:t>A parent with root access.</a:t>
            </a:r>
          </a:p>
        </p:txBody>
      </p:sp>
      <p:sp>
        <p:nvSpPr>
          <p:cNvPr id="3" name="">
            <a:extLst xmlns:a="http://schemas.openxmlformats.org/drawingml/2006/main">
              <a:ext uri="{FF2B5EF4-FFF2-40B4-BE49-F238E27FC236}">
                <a16:creationId xmlns:a16="http://schemas.microsoft.com/office/drawing/2014/main" id="{5F8130CF-BC20-4F9A-87B0-616E5946E5A9}"/>
              </a:ext>
            </a:extLst>
          </p:cNvPr>
          <p:cNvSpPr>
            <a:spLocks xmlns:a="http://schemas.openxmlformats.org/drawingml/2006/main" noGrp="1"/>
          </p:cNvSpPr>
          <p:nvPr/>
        </p:nvSpPr>
        <p:spPr>
          <a:xfrm xmlns:a="http://schemas.openxmlformats.org/drawingml/2006/main">
            <a:off x="781050" y="5762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Sharma Ji Ka Bot</a:t>
            </a:r>
          </a:p>
        </p:txBody>
      </p:sp>
    </p:spTree>
    <p:extLst>
      <p:ext uri="{BB962C8B-B14F-4D97-AF65-F5344CB8AC3E}">
        <p14:creationId xmlns:p14="http://schemas.microsoft.com/office/powerpoint/2010/main" val="999788265"/>
      </p:ext>
    </p:extLst>
  </p:cSld>
</p:sld>
</file>

<file path=ppt/slides/slide2.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737E668-9CAB-4C05-A9E0-894A3D95DC79}"/>
              </a:ext>
            </a:extLst>
          </p:cNvPr>
          <p:cNvSpPr>
            <a:spLocks xmlns:a="http://schemas.openxmlformats.org/drawingml/2006/main" noGrp="1"/>
          </p:cNvSpPr>
          <p:nvPr/>
        </p:nvSpPr>
        <p:spPr>
          <a:xfrm xmlns:a="http://schemas.openxmlformats.org/drawingml/2006/main">
            <a:off x="685800" y="1238250"/>
            <a:ext cx="10763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At home, our South Asian</a:t>
            </a:r>
          </a:p>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parents made sure we studied.</a:t>
            </a:r>
          </a:p>
          <a:p xmlns:a="http://schemas.openxmlformats.org/drawingml/2006/main">
            <a:pPr>
              <a:defRPr sz="4950" b="1">
                <a:solidFill>
                  <a:srgbClr val="F2EFE9"/>
                </a:solidFill>
                <a:latin typeface="Helvetica Neue"/>
                <a:ea typeface="Helvetica Neue"/>
                <a:cs typeface="Helvetica Neue"/>
              </a:defRPr>
            </a:pPr>
            <a:r>
              <a:rPr sz="4950" b="1">
                <a:solidFill>
                  <a:srgbClr val="F2EFE9"/>
                </a:solidFill>
                <a:latin typeface="Helvetica Neue"/>
                <a:ea typeface="Helvetica Neue"/>
                <a:cs typeface="Helvetica Neue"/>
              </a:rPr>
              <a:t>At university, nobody did.</a:t>
            </a:r>
          </a:p>
        </p:txBody>
      </p:sp>
      <p:sp>
        <p:nvSpPr>
          <p:cNvPr id="2" name="">
            <a:extLst xmlns:a="http://schemas.openxmlformats.org/drawingml/2006/main">
              <a:ext uri="{FF2B5EF4-FFF2-40B4-BE49-F238E27FC236}">
                <a16:creationId xmlns:a16="http://schemas.microsoft.com/office/drawing/2014/main" id="{6A7EF336-1ACD-4E74-A219-E09692DC4975}"/>
              </a:ext>
            </a:extLst>
          </p:cNvPr>
          <p:cNvSpPr>
            <a:spLocks xmlns:a="http://schemas.openxmlformats.org/drawingml/2006/main" noGrp="1"/>
          </p:cNvSpPr>
          <p:nvPr/>
        </p:nvSpPr>
        <p:spPr>
          <a:xfrm xmlns:a="http://schemas.openxmlformats.org/drawingml/2006/main">
            <a:off x="685800" y="50482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So we built AMMA.</a:t>
            </a:r>
          </a:p>
        </p:txBody>
      </p:sp>
    </p:spTree>
    <p:extLst>
      <p:ext uri="{BB962C8B-B14F-4D97-AF65-F5344CB8AC3E}">
        <p14:creationId xmlns:p14="http://schemas.microsoft.com/office/powerpoint/2010/main" val="874724601"/>
      </p:ext>
    </p:extLst>
  </p:cSld>
</p:sld>
</file>

<file path=ppt/slides/slide3.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5307EA3-8110-4D35-9883-B460CB2BC23B}"/>
              </a:ext>
            </a:extLst>
          </p:cNvPr>
          <p:cNvSpPr>
            <a:spLocks xmlns:a="http://schemas.openxmlformats.org/drawingml/2006/main" noGrp="1"/>
          </p:cNvSpPr>
          <p:nvPr/>
        </p:nvSpPr>
        <p:spPr>
          <a:xfrm xmlns:a="http://schemas.openxmlformats.org/drawingml/2006/main">
            <a:off x="685800" y="6191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A little pressure. Everywhere.</a:t>
            </a:r>
          </a:p>
        </p:txBody>
      </p:sp>
      <p:sp>
        <p:nvSpPr>
          <p:cNvPr id="2" name="">
            <a:extLst xmlns:a="http://schemas.openxmlformats.org/drawingml/2006/main">
              <a:ext uri="{FF2B5EF4-FFF2-40B4-BE49-F238E27FC236}">
                <a16:creationId xmlns:a16="http://schemas.microsoft.com/office/drawing/2014/main" id="{5821C94E-E61E-462C-887C-4DAB3CCA3211}"/>
              </a:ext>
            </a:extLst>
          </p:cNvPr>
          <p:cNvSpPr>
            <a:spLocks xmlns:a="http://schemas.openxmlformats.org/drawingml/2006/main" noGrp="1"/>
          </p:cNvSpPr>
          <p:nvPr/>
        </p:nvSpPr>
        <p:spPr>
          <a:xfrm xmlns:a="http://schemas.openxmlformats.org/drawingml/2006/main">
            <a:off x="762000"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CF7BCE-C1C7-4D3A-83C0-E14292C273A4}"/>
              </a:ext>
            </a:extLst>
          </p:cNvPr>
          <p:cNvSpPr>
            <a:spLocks xmlns:a="http://schemas.openxmlformats.org/drawingml/2006/main" noGrp="1"/>
          </p:cNvSpPr>
          <p:nvPr/>
        </p:nvSpPr>
        <p:spPr>
          <a:xfrm xmlns:a="http://schemas.openxmlformats.org/drawingml/2006/main">
            <a:off x="3667125"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7ACD2F9-B93F-4693-8176-31E7BBAD6D02}"/>
              </a:ext>
            </a:extLst>
          </p:cNvPr>
          <p:cNvSpPr>
            <a:spLocks xmlns:a="http://schemas.openxmlformats.org/drawingml/2006/main" noGrp="1"/>
          </p:cNvSpPr>
          <p:nvPr/>
        </p:nvSpPr>
        <p:spPr>
          <a:xfrm xmlns:a="http://schemas.openxmlformats.org/drawingml/2006/main">
            <a:off x="6572250"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9ECADF8-FEF0-4A7C-8F60-7D53E0CAAAA0}"/>
              </a:ext>
            </a:extLst>
          </p:cNvPr>
          <p:cNvSpPr>
            <a:spLocks xmlns:a="http://schemas.openxmlformats.org/drawingml/2006/main" noGrp="1"/>
          </p:cNvSpPr>
          <p:nvPr/>
        </p:nvSpPr>
        <p:spPr>
          <a:xfrm xmlns:a="http://schemas.openxmlformats.org/drawingml/2006/main">
            <a:off x="9477375" y="2552700"/>
            <a:ext cx="1295400" cy="57150"/>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7F9D2D-817C-4DD9-AF2C-10CEF0178CF7}"/>
              </a:ext>
            </a:extLst>
          </p:cNvPr>
          <p:cNvSpPr>
            <a:spLocks xmlns:a="http://schemas.openxmlformats.org/drawingml/2006/main" noGrp="1"/>
          </p:cNvSpPr>
          <p:nvPr/>
        </p:nvSpPr>
        <p:spPr>
          <a:xfrm xmlns:a="http://schemas.openxmlformats.org/drawingml/2006/main">
            <a:off x="762000"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076EAE-082D-4CFB-A741-F151ED789823}"/>
              </a:ext>
            </a:extLst>
          </p:cNvPr>
          <p:cNvSpPr>
            <a:spLocks xmlns:a="http://schemas.openxmlformats.org/drawingml/2006/main" noGrp="1"/>
          </p:cNvSpPr>
          <p:nvPr/>
        </p:nvSpPr>
        <p:spPr>
          <a:xfrm xmlns:a="http://schemas.openxmlformats.org/drawingml/2006/main">
            <a:off x="933450" y="2743200"/>
            <a:ext cx="904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9A62"/>
                </a:solidFill>
                <a:latin typeface="Helvetica Neue"/>
                <a:ea typeface="Helvetica Neue"/>
                <a:cs typeface="Helvetica Neue"/>
              </a:defRPr>
            </a:pPr>
            <a:r>
              <a:rPr sz="4950" b="1">
                <a:solidFill>
                  <a:srgbClr val="FF9A62"/>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67287761-1134-4A89-9B77-DADD0877D136}"/>
              </a:ext>
            </a:extLst>
          </p:cNvPr>
          <p:cNvSpPr>
            <a:spLocks xmlns:a="http://schemas.openxmlformats.org/drawingml/2006/main" noGrp="1"/>
          </p:cNvSpPr>
          <p:nvPr/>
        </p:nvSpPr>
        <p:spPr>
          <a:xfrm xmlns:a="http://schemas.openxmlformats.org/drawingml/2006/main">
            <a:off x="3667125"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3ADCA67-34E4-4785-8E9D-C51C05EFEF78}"/>
              </a:ext>
            </a:extLst>
          </p:cNvPr>
          <p:cNvSpPr>
            <a:spLocks xmlns:a="http://schemas.openxmlformats.org/drawingml/2006/main" noGrp="1"/>
          </p:cNvSpPr>
          <p:nvPr/>
        </p:nvSpPr>
        <p:spPr>
          <a:xfrm xmlns:a="http://schemas.openxmlformats.org/drawingml/2006/main">
            <a:off x="3781425" y="2809875"/>
            <a:ext cx="1028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9A62"/>
                </a:solidFill>
                <a:latin typeface="Helvetica Neue"/>
                <a:ea typeface="Helvetica Neue"/>
                <a:cs typeface="Helvetica Neue"/>
              </a:defRPr>
            </a:pPr>
            <a:r>
              <a:rPr sz="4200" b="1">
                <a:solidFill>
                  <a:srgbClr val="FF9A62"/>
                </a:solidFill>
                <a:latin typeface="Helvetica Neue"/>
                <a:ea typeface="Helvetica Neue"/>
                <a:cs typeface="Helvetica Neue"/>
              </a:rPr>
              <a:t>31</a:t>
            </a:r>
          </a:p>
        </p:txBody>
      </p:sp>
      <p:sp>
        <p:nvSpPr>
          <p:cNvPr id="10" name="">
            <a:extLst xmlns:a="http://schemas.openxmlformats.org/drawingml/2006/main">
              <a:ext uri="{FF2B5EF4-FFF2-40B4-BE49-F238E27FC236}">
                <a16:creationId xmlns:a16="http://schemas.microsoft.com/office/drawing/2014/main" id="{A3CFD26B-80F5-4079-BDD5-0241D37615F9}"/>
              </a:ext>
            </a:extLst>
          </p:cNvPr>
          <p:cNvSpPr>
            <a:spLocks xmlns:a="http://schemas.openxmlformats.org/drawingml/2006/main" noGrp="1"/>
          </p:cNvSpPr>
          <p:nvPr/>
        </p:nvSpPr>
        <p:spPr>
          <a:xfrm xmlns:a="http://schemas.openxmlformats.org/drawingml/2006/main">
            <a:off x="6572250"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0A0F705-3776-4099-A36C-3DE94E5E7B6B}"/>
              </a:ext>
            </a:extLst>
          </p:cNvPr>
          <p:cNvSpPr>
            <a:spLocks xmlns:a="http://schemas.openxmlformats.org/drawingml/2006/main" noGrp="1"/>
          </p:cNvSpPr>
          <p:nvPr/>
        </p:nvSpPr>
        <p:spPr>
          <a:xfrm xmlns:a="http://schemas.openxmlformats.org/drawingml/2006/main">
            <a:off x="6838950" y="2714625"/>
            <a:ext cx="857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0">
                <a:solidFill>
                  <a:srgbClr val="FF9A62"/>
                </a:solidFill>
                <a:latin typeface="Helvetica Neue"/>
                <a:ea typeface="Helvetica Neue"/>
                <a:cs typeface="Helvetica Neue"/>
              </a:defRPr>
            </a:pPr>
            <a:r>
              <a:rPr sz="5250" b="0">
                <a:solidFill>
                  <a:srgbClr val="FF9A62"/>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C617FA64-7730-4767-9F01-20D15B138CC5}"/>
              </a:ext>
            </a:extLst>
          </p:cNvPr>
          <p:cNvSpPr>
            <a:spLocks xmlns:a="http://schemas.openxmlformats.org/drawingml/2006/main" noGrp="1"/>
          </p:cNvSpPr>
          <p:nvPr/>
        </p:nvSpPr>
        <p:spPr>
          <a:xfrm xmlns:a="http://schemas.openxmlformats.org/drawingml/2006/main">
            <a:off x="9477375" y="2762250"/>
            <a:ext cx="1238250" cy="809625"/>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027E6B-FFA2-488F-B351-2E08A0F6160F}"/>
              </a:ext>
            </a:extLst>
          </p:cNvPr>
          <p:cNvSpPr>
            <a:spLocks xmlns:a="http://schemas.openxmlformats.org/drawingml/2006/main" noGrp="1"/>
          </p:cNvSpPr>
          <p:nvPr/>
        </p:nvSpPr>
        <p:spPr>
          <a:xfrm xmlns:a="http://schemas.openxmlformats.org/drawingml/2006/main">
            <a:off x="9848850" y="2781300"/>
            <a:ext cx="714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F9A62"/>
                </a:solidFill>
                <a:latin typeface="Helvetica Neue"/>
                <a:ea typeface="Helvetica Neue"/>
                <a:cs typeface="Helvetica Neue"/>
              </a:defRPr>
            </a:pPr>
            <a:r>
              <a:rPr sz="4500" b="1">
                <a:solidFill>
                  <a:srgbClr val="FF9A62"/>
                </a:solidFill>
                <a:latin typeface="Helvetica Neue"/>
                <a:ea typeface="Helvetica Neue"/>
                <a:cs typeface="Helvetica Neue"/>
              </a:rPr>
              <a:t>↑</a:t>
            </a:r>
          </a:p>
        </p:txBody>
      </p:sp>
      <p:sp>
        <p:nvSpPr>
          <p:cNvPr id="14" name="">
            <a:extLst xmlns:a="http://schemas.openxmlformats.org/drawingml/2006/main">
              <a:ext uri="{FF2B5EF4-FFF2-40B4-BE49-F238E27FC236}">
                <a16:creationId xmlns:a16="http://schemas.microsoft.com/office/drawing/2014/main" id="{E2D405F8-2336-48E6-936A-4AFA6877D421}"/>
              </a:ext>
            </a:extLst>
          </p:cNvPr>
          <p:cNvSpPr>
            <a:spLocks xmlns:a="http://schemas.openxmlformats.org/drawingml/2006/main" noGrp="1"/>
          </p:cNvSpPr>
          <p:nvPr/>
        </p:nvSpPr>
        <p:spPr>
          <a:xfrm xmlns:a="http://schemas.openxmlformats.org/drawingml/2006/main">
            <a:off x="762000"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Emails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you</a:t>
            </a:r>
          </a:p>
        </p:txBody>
      </p:sp>
      <p:sp>
        <p:nvSpPr>
          <p:cNvPr id="15" name="">
            <a:extLst xmlns:a="http://schemas.openxmlformats.org/drawingml/2006/main">
              <a:ext uri="{FF2B5EF4-FFF2-40B4-BE49-F238E27FC236}">
                <a16:creationId xmlns:a16="http://schemas.microsoft.com/office/drawing/2014/main" id="{81219D56-0D2F-4BA0-8F0C-BA8B41AE50D4}"/>
              </a:ext>
            </a:extLst>
          </p:cNvPr>
          <p:cNvSpPr>
            <a:spLocks xmlns:a="http://schemas.openxmlformats.org/drawingml/2006/main" noGrp="1"/>
          </p:cNvSpPr>
          <p:nvPr/>
        </p:nvSpPr>
        <p:spPr>
          <a:xfrm xmlns:a="http://schemas.openxmlformats.org/drawingml/2006/main">
            <a:off x="3667125"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Hijacks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calendar</a:t>
            </a:r>
          </a:p>
        </p:txBody>
      </p:sp>
      <p:sp>
        <p:nvSpPr>
          <p:cNvPr id="16" name="">
            <a:extLst xmlns:a="http://schemas.openxmlformats.org/drawingml/2006/main">
              <a:ext uri="{FF2B5EF4-FFF2-40B4-BE49-F238E27FC236}">
                <a16:creationId xmlns:a16="http://schemas.microsoft.com/office/drawing/2014/main" id="{09EAFFF0-7BBD-4319-BEAD-EC0AB766450B}"/>
              </a:ext>
            </a:extLst>
          </p:cNvPr>
          <p:cNvSpPr>
            <a:spLocks xmlns:a="http://schemas.openxmlformats.org/drawingml/2006/main" noGrp="1"/>
          </p:cNvSpPr>
          <p:nvPr/>
        </p:nvSpPr>
        <p:spPr>
          <a:xfrm xmlns:a="http://schemas.openxmlformats.org/drawingml/2006/main">
            <a:off x="6572250"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Holds your</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worst photos</a:t>
            </a:r>
          </a:p>
        </p:txBody>
      </p:sp>
      <p:sp>
        <p:nvSpPr>
          <p:cNvPr id="17" name="">
            <a:extLst xmlns:a="http://schemas.openxmlformats.org/drawingml/2006/main">
              <a:ext uri="{FF2B5EF4-FFF2-40B4-BE49-F238E27FC236}">
                <a16:creationId xmlns:a16="http://schemas.microsoft.com/office/drawing/2014/main" id="{DCCA2A17-465D-4846-BDA7-39C60CAA395E}"/>
              </a:ext>
            </a:extLst>
          </p:cNvPr>
          <p:cNvSpPr>
            <a:spLocks xmlns:a="http://schemas.openxmlformats.org/drawingml/2006/main" noGrp="1"/>
          </p:cNvSpPr>
          <p:nvPr/>
        </p:nvSpPr>
        <p:spPr>
          <a:xfrm xmlns:a="http://schemas.openxmlformats.org/drawingml/2006/main">
            <a:off x="9477375" y="3962400"/>
            <a:ext cx="247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Prepares</a:t>
            </a:r>
          </a:p>
          <a:p xmlns:a="http://schemas.openxmlformats.org/drawingml/2006/main">
            <a:pPr>
              <a:defRPr sz="3150" b="1">
                <a:solidFill>
                  <a:srgbClr val="F2EFE9"/>
                </a:solidFill>
                <a:latin typeface="Helvetica Neue"/>
                <a:ea typeface="Helvetica Neue"/>
                <a:cs typeface="Helvetica Neue"/>
              </a:defRPr>
            </a:pPr>
            <a:r>
              <a:rPr sz="3150" b="1">
                <a:solidFill>
                  <a:srgbClr val="F2EFE9"/>
                </a:solidFill>
                <a:latin typeface="Helvetica Neue"/>
                <a:ea typeface="Helvetica Neue"/>
                <a:cs typeface="Helvetica Neue"/>
              </a:rPr>
              <a:t>your post</a:t>
            </a:r>
          </a:p>
        </p:txBody>
      </p:sp>
      <p:sp>
        <p:nvSpPr>
          <p:cNvPr id="18" name="">
            <a:extLst xmlns:a="http://schemas.openxmlformats.org/drawingml/2006/main">
              <a:ext uri="{FF2B5EF4-FFF2-40B4-BE49-F238E27FC236}">
                <a16:creationId xmlns:a16="http://schemas.microsoft.com/office/drawing/2014/main" id="{09C0B751-9704-4E81-82C5-90415F54F46D}"/>
              </a:ext>
            </a:extLst>
          </p:cNvPr>
          <p:cNvSpPr>
            <a:spLocks xmlns:a="http://schemas.openxmlformats.org/drawingml/2006/main" noGrp="1"/>
          </p:cNvSpPr>
          <p:nvPr/>
        </p:nvSpPr>
        <p:spPr>
          <a:xfrm xmlns:a="http://schemas.openxmlformats.org/drawingml/2006/main">
            <a:off x="685800" y="5810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9A62"/>
                </a:solidFill>
                <a:latin typeface="Helvetica Neue"/>
                <a:ea typeface="Helvetica Neue"/>
                <a:cs typeface="Helvetica Neue"/>
              </a:defRPr>
            </a:pPr>
            <a:r>
              <a:rPr sz="3000" b="0">
                <a:solidFill>
                  <a:srgbClr val="FF9A62"/>
                </a:solidFill>
                <a:latin typeface="Helvetica Neue"/>
                <a:ea typeface="Helvetica Neue"/>
                <a:cs typeface="Helvetica Neue"/>
              </a:rPr>
              <a:t>You control the final Share.</a:t>
            </a:r>
          </a:p>
        </p:txBody>
      </p:sp>
    </p:spTree>
    <p:extLst>
      <p:ext uri="{BB962C8B-B14F-4D97-AF65-F5344CB8AC3E}">
        <p14:creationId xmlns:p14="http://schemas.microsoft.com/office/powerpoint/2010/main" val="230344708"/>
      </p:ext>
    </p:extLst>
  </p:cSld>
</p:sld>
</file>

<file path=ppt/slides/slide4.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BAB7331-83D6-45DC-818A-7F8310347C11}"/>
              </a:ext>
            </a:extLst>
          </p:cNvPr>
          <p:cNvSpPr>
            <a:spLocks xmlns:a="http://schemas.openxmlformats.org/drawingml/2006/main" noGrp="1"/>
          </p:cNvSpPr>
          <p:nvPr/>
        </p:nvSpPr>
        <p:spPr>
          <a:xfrm xmlns:a="http://schemas.openxmlformats.org/drawingml/2006/main">
            <a:off x="685800" y="6667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The deadline gets closer.</a:t>
            </a:r>
          </a:p>
        </p:txBody>
      </p:sp>
      <p:sp>
        <p:nvSpPr>
          <p:cNvPr id="2" name="">
            <a:extLst xmlns:a="http://schemas.openxmlformats.org/drawingml/2006/main">
              <a:ext uri="{FF2B5EF4-FFF2-40B4-BE49-F238E27FC236}">
                <a16:creationId xmlns:a16="http://schemas.microsoft.com/office/drawing/2014/main" id="{6C8D5EDA-19A1-4CEE-9960-C2F6AFEC5162}"/>
              </a:ext>
            </a:extLst>
          </p:cNvPr>
          <p:cNvSpPr>
            <a:spLocks xmlns:a="http://schemas.openxmlformats.org/drawingml/2006/main" noGrp="1"/>
          </p:cNvSpPr>
          <p:nvPr/>
        </p:nvSpPr>
        <p:spPr>
          <a:xfrm xmlns:a="http://schemas.openxmlformats.org/drawingml/2006/main">
            <a:off x="685800" y="161925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AMMA gets louder.</a:t>
            </a:r>
          </a:p>
        </p:txBody>
      </p:sp>
      <p:sp>
        <p:nvSpPr>
          <p:cNvPr id="3" name="">
            <a:extLst xmlns:a="http://schemas.openxmlformats.org/drawingml/2006/main">
              <a:ext uri="{FF2B5EF4-FFF2-40B4-BE49-F238E27FC236}">
                <a16:creationId xmlns:a16="http://schemas.microsoft.com/office/drawing/2014/main" id="{E9AD2ABC-4BCC-4E34-87B1-3AEDE69D1D50}"/>
              </a:ext>
            </a:extLst>
          </p:cNvPr>
          <p:cNvSpPr>
            <a:spLocks xmlns:a="http://schemas.openxmlformats.org/drawingml/2006/main" noGrp="1"/>
          </p:cNvSpPr>
          <p:nvPr/>
        </p:nvSpPr>
        <p:spPr>
          <a:xfrm xmlns:a="http://schemas.openxmlformats.org/drawingml/2006/main">
            <a:off x="6858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F1828BB-E5E6-42B8-8C02-8558DC574918}"/>
              </a:ext>
            </a:extLst>
          </p:cNvPr>
          <p:cNvSpPr>
            <a:spLocks xmlns:a="http://schemas.openxmlformats.org/drawingml/2006/main" noGrp="1"/>
          </p:cNvSpPr>
          <p:nvPr/>
        </p:nvSpPr>
        <p:spPr>
          <a:xfrm xmlns:a="http://schemas.openxmlformats.org/drawingml/2006/main">
            <a:off x="6858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Calm</a:t>
            </a:r>
          </a:p>
        </p:txBody>
      </p:sp>
      <p:sp>
        <p:nvSpPr>
          <p:cNvPr id="5" name="">
            <a:extLst xmlns:a="http://schemas.openxmlformats.org/drawingml/2006/main">
              <a:ext uri="{FF2B5EF4-FFF2-40B4-BE49-F238E27FC236}">
                <a16:creationId xmlns:a16="http://schemas.microsoft.com/office/drawing/2014/main" id="{62AF6921-6ACC-4C4C-9050-151892A19A20}"/>
              </a:ext>
            </a:extLst>
          </p:cNvPr>
          <p:cNvSpPr>
            <a:spLocks xmlns:a="http://schemas.openxmlformats.org/drawingml/2006/main" noGrp="1"/>
          </p:cNvSpPr>
          <p:nvPr/>
        </p:nvSpPr>
        <p:spPr>
          <a:xfrm xmlns:a="http://schemas.openxmlformats.org/drawingml/2006/main">
            <a:off x="6858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18 hours</a:t>
            </a:r>
          </a:p>
        </p:txBody>
      </p:sp>
      <p:sp>
        <p:nvSpPr>
          <p:cNvPr id="6" name="">
            <a:extLst xmlns:a="http://schemas.openxmlformats.org/drawingml/2006/main">
              <a:ext uri="{FF2B5EF4-FFF2-40B4-BE49-F238E27FC236}">
                <a16:creationId xmlns:a16="http://schemas.microsoft.com/office/drawing/2014/main" id="{B49140C7-C944-4B0B-97A5-50BFA0721C29}"/>
              </a:ext>
            </a:extLst>
          </p:cNvPr>
          <p:cNvSpPr>
            <a:spLocks xmlns:a="http://schemas.openxmlformats.org/drawingml/2006/main" noGrp="1"/>
          </p:cNvSpPr>
          <p:nvPr/>
        </p:nvSpPr>
        <p:spPr>
          <a:xfrm xmlns:a="http://schemas.openxmlformats.org/drawingml/2006/main">
            <a:off x="28956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495824-3501-4262-BFDC-34274575FBF0}"/>
              </a:ext>
            </a:extLst>
          </p:cNvPr>
          <p:cNvSpPr>
            <a:spLocks xmlns:a="http://schemas.openxmlformats.org/drawingml/2006/main" noGrp="1"/>
          </p:cNvSpPr>
          <p:nvPr/>
        </p:nvSpPr>
        <p:spPr>
          <a:xfrm xmlns:a="http://schemas.openxmlformats.org/drawingml/2006/main">
            <a:off x="28956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Nudging</a:t>
            </a:r>
          </a:p>
        </p:txBody>
      </p:sp>
      <p:sp>
        <p:nvSpPr>
          <p:cNvPr id="8" name="">
            <a:extLst xmlns:a="http://schemas.openxmlformats.org/drawingml/2006/main">
              <a:ext uri="{FF2B5EF4-FFF2-40B4-BE49-F238E27FC236}">
                <a16:creationId xmlns:a16="http://schemas.microsoft.com/office/drawing/2014/main" id="{05A6D384-19AB-4497-B98C-A3C0DA93D0E5}"/>
              </a:ext>
            </a:extLst>
          </p:cNvPr>
          <p:cNvSpPr>
            <a:spLocks xmlns:a="http://schemas.openxmlformats.org/drawingml/2006/main" noGrp="1"/>
          </p:cNvSpPr>
          <p:nvPr/>
        </p:nvSpPr>
        <p:spPr>
          <a:xfrm xmlns:a="http://schemas.openxmlformats.org/drawingml/2006/main">
            <a:off x="28956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12 hours</a:t>
            </a:r>
          </a:p>
        </p:txBody>
      </p:sp>
      <p:sp>
        <p:nvSpPr>
          <p:cNvPr id="9" name="">
            <a:extLst xmlns:a="http://schemas.openxmlformats.org/drawingml/2006/main">
              <a:ext uri="{FF2B5EF4-FFF2-40B4-BE49-F238E27FC236}">
                <a16:creationId xmlns:a16="http://schemas.microsoft.com/office/drawing/2014/main" id="{7A2064B8-4A91-4063-AA91-014BCFC70DB1}"/>
              </a:ext>
            </a:extLst>
          </p:cNvPr>
          <p:cNvSpPr>
            <a:spLocks xmlns:a="http://schemas.openxmlformats.org/drawingml/2006/main" noGrp="1"/>
          </p:cNvSpPr>
          <p:nvPr/>
        </p:nvSpPr>
        <p:spPr>
          <a:xfrm xmlns:a="http://schemas.openxmlformats.org/drawingml/2006/main">
            <a:off x="51054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CF0C92-4E60-468C-90A5-C6E1935A75AF}"/>
              </a:ext>
            </a:extLst>
          </p:cNvPr>
          <p:cNvSpPr>
            <a:spLocks xmlns:a="http://schemas.openxmlformats.org/drawingml/2006/main" noGrp="1"/>
          </p:cNvSpPr>
          <p:nvPr/>
        </p:nvSpPr>
        <p:spPr>
          <a:xfrm xmlns:a="http://schemas.openxmlformats.org/drawingml/2006/main">
            <a:off x="51054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Invasive</a:t>
            </a:r>
          </a:p>
        </p:txBody>
      </p:sp>
      <p:sp>
        <p:nvSpPr>
          <p:cNvPr id="11" name="">
            <a:extLst xmlns:a="http://schemas.openxmlformats.org/drawingml/2006/main">
              <a:ext uri="{FF2B5EF4-FFF2-40B4-BE49-F238E27FC236}">
                <a16:creationId xmlns:a16="http://schemas.microsoft.com/office/drawing/2014/main" id="{7B05B1F8-11BE-4625-B7CF-CBC3551BD6F5}"/>
              </a:ext>
            </a:extLst>
          </p:cNvPr>
          <p:cNvSpPr>
            <a:spLocks xmlns:a="http://schemas.openxmlformats.org/drawingml/2006/main" noGrp="1"/>
          </p:cNvSpPr>
          <p:nvPr/>
        </p:nvSpPr>
        <p:spPr>
          <a:xfrm xmlns:a="http://schemas.openxmlformats.org/drawingml/2006/main">
            <a:off x="51054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6 hours</a:t>
            </a:r>
          </a:p>
        </p:txBody>
      </p:sp>
      <p:sp>
        <p:nvSpPr>
          <p:cNvPr id="12" name="">
            <a:extLst xmlns:a="http://schemas.openxmlformats.org/drawingml/2006/main">
              <a:ext uri="{FF2B5EF4-FFF2-40B4-BE49-F238E27FC236}">
                <a16:creationId xmlns:a16="http://schemas.microsoft.com/office/drawing/2014/main" id="{6B2EF68D-32D6-4CDD-AF4D-17FF0069CEE2}"/>
              </a:ext>
            </a:extLst>
          </p:cNvPr>
          <p:cNvSpPr>
            <a:spLocks xmlns:a="http://schemas.openxmlformats.org/drawingml/2006/main" noGrp="1"/>
          </p:cNvSpPr>
          <p:nvPr/>
        </p:nvSpPr>
        <p:spPr>
          <a:xfrm xmlns:a="http://schemas.openxmlformats.org/drawingml/2006/main">
            <a:off x="7315200" y="3457575"/>
            <a:ext cx="2038350" cy="66675"/>
          </a:xfrm>
          <a:prstGeom xmlns:a="http://schemas.openxmlformats.org/drawingml/2006/main" prst="rect">
            <a:avLst/>
          </a:prstGeom>
          <a:solidFill xmlns:a="http://schemas.openxmlformats.org/drawingml/2006/main">
            <a:srgbClr val="6265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7DEC329-0FAA-4AE7-AB1D-09A24B34DD0F}"/>
              </a:ext>
            </a:extLst>
          </p:cNvPr>
          <p:cNvSpPr>
            <a:spLocks xmlns:a="http://schemas.openxmlformats.org/drawingml/2006/main" noGrp="1"/>
          </p:cNvSpPr>
          <p:nvPr/>
        </p:nvSpPr>
        <p:spPr>
          <a:xfrm xmlns:a="http://schemas.openxmlformats.org/drawingml/2006/main">
            <a:off x="73152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Hostile</a:t>
            </a:r>
          </a:p>
        </p:txBody>
      </p:sp>
      <p:sp>
        <p:nvSpPr>
          <p:cNvPr id="14" name="">
            <a:extLst xmlns:a="http://schemas.openxmlformats.org/drawingml/2006/main">
              <a:ext uri="{FF2B5EF4-FFF2-40B4-BE49-F238E27FC236}">
                <a16:creationId xmlns:a16="http://schemas.microsoft.com/office/drawing/2014/main" id="{F59E292A-79F6-4916-B4CF-3A24F9A7BF21}"/>
              </a:ext>
            </a:extLst>
          </p:cNvPr>
          <p:cNvSpPr>
            <a:spLocks xmlns:a="http://schemas.openxmlformats.org/drawingml/2006/main" noGrp="1"/>
          </p:cNvSpPr>
          <p:nvPr/>
        </p:nvSpPr>
        <p:spPr>
          <a:xfrm xmlns:a="http://schemas.openxmlformats.org/drawingml/2006/main">
            <a:off x="73152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2 hours</a:t>
            </a:r>
          </a:p>
        </p:txBody>
      </p:sp>
      <p:sp>
        <p:nvSpPr>
          <p:cNvPr id="15" name="">
            <a:extLst xmlns:a="http://schemas.openxmlformats.org/drawingml/2006/main">
              <a:ext uri="{FF2B5EF4-FFF2-40B4-BE49-F238E27FC236}">
                <a16:creationId xmlns:a16="http://schemas.microsoft.com/office/drawing/2014/main" id="{ADFD6E82-B3F2-476B-AEC4-D08ADF5925CC}"/>
              </a:ext>
            </a:extLst>
          </p:cNvPr>
          <p:cNvSpPr>
            <a:spLocks xmlns:a="http://schemas.openxmlformats.org/drawingml/2006/main" noGrp="1"/>
          </p:cNvSpPr>
          <p:nvPr/>
        </p:nvSpPr>
        <p:spPr>
          <a:xfrm xmlns:a="http://schemas.openxmlformats.org/drawingml/2006/main">
            <a:off x="9525000" y="3457575"/>
            <a:ext cx="2038350" cy="66675"/>
          </a:xfrm>
          <a:prstGeom xmlns:a="http://schemas.openxmlformats.org/drawingml/2006/main" prst="rect">
            <a:avLst/>
          </a:prstGeom>
          <a:solidFill xmlns:a="http://schemas.openxmlformats.org/drawingml/2006/main">
            <a:srgbClr val="FF9A6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46844C4-CCA5-4B7A-8781-EFF522A332D6}"/>
              </a:ext>
            </a:extLst>
          </p:cNvPr>
          <p:cNvSpPr>
            <a:spLocks xmlns:a="http://schemas.openxmlformats.org/drawingml/2006/main" noGrp="1"/>
          </p:cNvSpPr>
          <p:nvPr/>
        </p:nvSpPr>
        <p:spPr>
          <a:xfrm xmlns:a="http://schemas.openxmlformats.org/drawingml/2006/main">
            <a:off x="9525000" y="3829050"/>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Armed</a:t>
            </a:r>
          </a:p>
        </p:txBody>
      </p:sp>
      <p:sp>
        <p:nvSpPr>
          <p:cNvPr id="17" name="">
            <a:extLst xmlns:a="http://schemas.openxmlformats.org/drawingml/2006/main">
              <a:ext uri="{FF2B5EF4-FFF2-40B4-BE49-F238E27FC236}">
                <a16:creationId xmlns:a16="http://schemas.microsoft.com/office/drawing/2014/main" id="{06ED87F9-459B-47B9-9D49-F456E8352B96}"/>
              </a:ext>
            </a:extLst>
          </p:cNvPr>
          <p:cNvSpPr>
            <a:spLocks xmlns:a="http://schemas.openxmlformats.org/drawingml/2006/main" noGrp="1"/>
          </p:cNvSpPr>
          <p:nvPr/>
        </p:nvSpPr>
        <p:spPr>
          <a:xfrm xmlns:a="http://schemas.openxmlformats.org/drawingml/2006/main">
            <a:off x="9525000" y="4543425"/>
            <a:ext cx="214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15 min</a:t>
            </a:r>
          </a:p>
        </p:txBody>
      </p:sp>
      <p:sp>
        <p:nvSpPr>
          <p:cNvPr id="18" name="">
            <a:extLst xmlns:a="http://schemas.openxmlformats.org/drawingml/2006/main">
              <a:ext uri="{FF2B5EF4-FFF2-40B4-BE49-F238E27FC236}">
                <a16:creationId xmlns:a16="http://schemas.microsoft.com/office/drawing/2014/main" id="{9E94DED8-CAE3-4902-A120-FB167BF1BF52}"/>
              </a:ext>
            </a:extLst>
          </p:cNvPr>
          <p:cNvSpPr>
            <a:spLocks xmlns:a="http://schemas.openxmlformats.org/drawingml/2006/main" noGrp="1"/>
          </p:cNvSpPr>
          <p:nvPr/>
        </p:nvSpPr>
        <p:spPr>
          <a:xfrm xmlns:a="http://schemas.openxmlformats.org/drawingml/2006/main">
            <a:off x="685800" y="58102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FF9A62"/>
                </a:solidFill>
                <a:latin typeface="Helvetica Neue"/>
                <a:ea typeface="Helvetica Neue"/>
                <a:cs typeface="Helvetica Neue"/>
              </a:defRPr>
            </a:pPr>
            <a:r>
              <a:rPr sz="3000" b="0">
                <a:solidFill>
                  <a:srgbClr val="FF9A62"/>
                </a:solidFill>
                <a:latin typeface="Helvetica Neue"/>
                <a:ea typeface="Helvetica Neue"/>
                <a:cs typeface="Helvetica Neue"/>
              </a:rPr>
              <a:t>Mark done. AMMA stands down.</a:t>
            </a:r>
          </a:p>
        </p:txBody>
      </p:sp>
    </p:spTree>
    <p:extLst>
      <p:ext uri="{BB962C8B-B14F-4D97-AF65-F5344CB8AC3E}">
        <p14:creationId xmlns:p14="http://schemas.microsoft.com/office/powerpoint/2010/main" val="1266291173"/>
      </p:ext>
    </p:extLst>
  </p:cSld>
</p:sld>
</file>

<file path=ppt/slides/slide5.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DC48054-CF92-47B9-835E-D37ED8AF4FB5}"/>
              </a:ext>
            </a:extLst>
          </p:cNvPr>
          <p:cNvSpPr>
            <a:spLocks xmlns:a="http://schemas.openxmlformats.org/drawingml/2006/main" noGrp="1"/>
          </p:cNvSpPr>
          <p:nvPr/>
        </p:nvSpPr>
        <p:spPr>
          <a:xfrm xmlns:a="http://schemas.openxmlformats.org/drawingml/2006/main">
            <a:off x="685800" y="523875"/>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2EFE9"/>
                </a:solidFill>
                <a:latin typeface="Helvetica Neue"/>
                <a:ea typeface="Helvetica Neue"/>
                <a:cs typeface="Helvetica Neue"/>
              </a:defRPr>
            </a:pPr>
            <a:r>
              <a:rPr sz="4500" b="1">
                <a:solidFill>
                  <a:srgbClr val="F2EFE9"/>
                </a:solidFill>
                <a:latin typeface="Helvetica Neue"/>
                <a:ea typeface="Helvetica Neue"/>
                <a:cs typeface="Helvetica Neue"/>
              </a:rPr>
              <a:t>One agent. Its own computer.</a:t>
            </a:r>
          </a:p>
        </p:txBody>
      </p:sp>
      <p:sp>
        <p:nvSpPr>
          <p:cNvPr id="2" name="">
            <a:extLst xmlns:a="http://schemas.openxmlformats.org/drawingml/2006/main">
              <a:ext uri="{FF2B5EF4-FFF2-40B4-BE49-F238E27FC236}">
                <a16:creationId xmlns:a16="http://schemas.microsoft.com/office/drawing/2014/main" id="{4D13FE2C-61E8-44DE-91D9-359124653480}"/>
              </a:ext>
            </a:extLst>
          </p:cNvPr>
          <p:cNvSpPr>
            <a:spLocks xmlns:a="http://schemas.openxmlformats.org/drawingml/2006/main" noGrp="1"/>
          </p:cNvSpPr>
          <p:nvPr/>
        </p:nvSpPr>
        <p:spPr>
          <a:xfrm xmlns:a="http://schemas.openxmlformats.org/drawingml/2006/main">
            <a:off x="571500" y="2143125"/>
            <a:ext cx="3143250" cy="2095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CBAAA4-DFF5-4028-88D3-7AB3FE02DB7C}"/>
              </a:ext>
            </a:extLst>
          </p:cNvPr>
          <p:cNvSpPr>
            <a:spLocks xmlns:a="http://schemas.openxmlformats.org/drawingml/2006/main" noGrp="1"/>
          </p:cNvSpPr>
          <p:nvPr/>
        </p:nvSpPr>
        <p:spPr>
          <a:xfrm xmlns:a="http://schemas.openxmlformats.org/drawingml/2006/main">
            <a:off x="762000" y="23336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Google</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Calendar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Gmail</a:t>
            </a:r>
          </a:p>
        </p:txBody>
      </p:sp>
      <p:sp>
        <p:nvSpPr>
          <p:cNvPr id="4" name="">
            <a:extLst xmlns:a="http://schemas.openxmlformats.org/drawingml/2006/main">
              <a:ext uri="{FF2B5EF4-FFF2-40B4-BE49-F238E27FC236}">
                <a16:creationId xmlns:a16="http://schemas.microsoft.com/office/drawing/2014/main" id="{E6DD4882-9444-4B3D-B362-13A90164D591}"/>
              </a:ext>
            </a:extLst>
          </p:cNvPr>
          <p:cNvSpPr>
            <a:spLocks xmlns:a="http://schemas.openxmlformats.org/drawingml/2006/main" noGrp="1"/>
          </p:cNvSpPr>
          <p:nvPr/>
        </p:nvSpPr>
        <p:spPr>
          <a:xfrm xmlns:a="http://schemas.openxmlformats.org/drawingml/2006/main">
            <a:off x="4476750" y="2143125"/>
            <a:ext cx="3238500" cy="2095500"/>
          </a:xfrm>
          <a:prstGeom xmlns:a="http://schemas.openxmlformats.org/drawingml/2006/main" prst="rect">
            <a:avLst/>
          </a:prstGeom>
          <a:solidFill xmlns:a="http://schemas.openxmlformats.org/drawingml/2006/main">
            <a:srgbClr val="65433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C4D4F8F-E8FC-4ECA-9F22-078FE43A70D9}"/>
              </a:ext>
            </a:extLst>
          </p:cNvPr>
          <p:cNvSpPr>
            <a:spLocks xmlns:a="http://schemas.openxmlformats.org/drawingml/2006/main" noGrp="1"/>
          </p:cNvSpPr>
          <p:nvPr/>
        </p:nvSpPr>
        <p:spPr>
          <a:xfrm xmlns:a="http://schemas.openxmlformats.org/drawingml/2006/main">
            <a:off x="4667250" y="2333625"/>
            <a:ext cx="285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Steel</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Computer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AMMA loop</a:t>
            </a:r>
          </a:p>
        </p:txBody>
      </p:sp>
      <p:sp>
        <p:nvSpPr>
          <p:cNvPr id="6" name="">
            <a:extLst xmlns:a="http://schemas.openxmlformats.org/drawingml/2006/main">
              <a:ext uri="{FF2B5EF4-FFF2-40B4-BE49-F238E27FC236}">
                <a16:creationId xmlns:a16="http://schemas.microsoft.com/office/drawing/2014/main" id="{51044842-F7A1-469E-AE54-75ADF37FF639}"/>
              </a:ext>
            </a:extLst>
          </p:cNvPr>
          <p:cNvSpPr>
            <a:spLocks xmlns:a="http://schemas.openxmlformats.org/drawingml/2006/main" noGrp="1"/>
          </p:cNvSpPr>
          <p:nvPr/>
        </p:nvSpPr>
        <p:spPr>
          <a:xfrm xmlns:a="http://schemas.openxmlformats.org/drawingml/2006/main">
            <a:off x="8477250" y="2143125"/>
            <a:ext cx="3143250" cy="2095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86788F-253F-48C6-B2EF-7DB47F3C8DE2}"/>
              </a:ext>
            </a:extLst>
          </p:cNvPr>
          <p:cNvSpPr>
            <a:spLocks xmlns:a="http://schemas.openxmlformats.org/drawingml/2006/main" noGrp="1"/>
          </p:cNvSpPr>
          <p:nvPr/>
        </p:nvSpPr>
        <p:spPr>
          <a:xfrm xmlns:a="http://schemas.openxmlformats.org/drawingml/2006/main">
            <a:off x="8667750" y="2333625"/>
            <a:ext cx="276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Steel Browser</a:t>
            </a:r>
          </a:p>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Instagram</a:t>
            </a:r>
          </a:p>
        </p:txBody>
      </p:sp>
      <p:sp>
        <p:nvSpPr>
          <p:cNvPr id="8" name="">
            <a:extLst xmlns:a="http://schemas.openxmlformats.org/drawingml/2006/main">
              <a:ext uri="{FF2B5EF4-FFF2-40B4-BE49-F238E27FC236}">
                <a16:creationId xmlns:a16="http://schemas.microsoft.com/office/drawing/2014/main" id="{2F03AEA3-6CA7-467F-9ABB-DDBA998E800A}"/>
              </a:ext>
            </a:extLst>
          </p:cNvPr>
          <p:cNvSpPr>
            <a:spLocks xmlns:a="http://schemas.openxmlformats.org/drawingml/2006/main" noGrp="1"/>
          </p:cNvSpPr>
          <p:nvPr/>
        </p:nvSpPr>
        <p:spPr>
          <a:xfrm xmlns:a="http://schemas.openxmlformats.org/drawingml/2006/main">
            <a:off x="3714750" y="3152775"/>
            <a:ext cx="762000" cy="38100"/>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E94FD6B-8BB2-4255-B63E-C6BFA1501A45}"/>
              </a:ext>
            </a:extLst>
          </p:cNvPr>
          <p:cNvSpPr>
            <a:spLocks xmlns:a="http://schemas.openxmlformats.org/drawingml/2006/main" noGrp="1"/>
          </p:cNvSpPr>
          <p:nvPr/>
        </p:nvSpPr>
        <p:spPr>
          <a:xfrm xmlns:a="http://schemas.openxmlformats.org/drawingml/2006/main">
            <a:off x="7715250" y="3152775"/>
            <a:ext cx="762000" cy="38100"/>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41F7B9-7352-46DF-80B4-840773518961}"/>
              </a:ext>
            </a:extLst>
          </p:cNvPr>
          <p:cNvSpPr>
            <a:spLocks xmlns:a="http://schemas.openxmlformats.org/drawingml/2006/main" noGrp="1"/>
          </p:cNvSpPr>
          <p:nvPr/>
        </p:nvSpPr>
        <p:spPr>
          <a:xfrm xmlns:a="http://schemas.openxmlformats.org/drawingml/2006/main">
            <a:off x="6076950" y="4238625"/>
            <a:ext cx="38100" cy="333375"/>
          </a:xfrm>
          <a:prstGeom xmlns:a="http://schemas.openxmlformats.org/drawingml/2006/main" prst="rect">
            <a:avLst/>
          </a:prstGeom>
          <a:solidFill xmlns:a="http://schemas.openxmlformats.org/drawingml/2006/main">
            <a:srgbClr val="A8AAA6"/>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D1C2E95-F15D-415B-A846-03462C2C750C}"/>
              </a:ext>
            </a:extLst>
          </p:cNvPr>
          <p:cNvSpPr>
            <a:spLocks xmlns:a="http://schemas.openxmlformats.org/drawingml/2006/main" noGrp="1"/>
          </p:cNvSpPr>
          <p:nvPr/>
        </p:nvSpPr>
        <p:spPr>
          <a:xfrm xmlns:a="http://schemas.openxmlformats.org/drawingml/2006/main">
            <a:off x="3048000" y="4572000"/>
            <a:ext cx="6096000" cy="952500"/>
          </a:xfrm>
          <a:prstGeom xmlns:a="http://schemas.openxmlformats.org/drawingml/2006/main" prst="rect">
            <a:avLst/>
          </a:prstGeom>
          <a:solidFill xmlns:a="http://schemas.openxmlformats.org/drawingml/2006/main">
            <a:srgbClr val="25282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771F37C-1E7A-48D7-881D-CF3099819DBC}"/>
              </a:ext>
            </a:extLst>
          </p:cNvPr>
          <p:cNvSpPr>
            <a:spLocks xmlns:a="http://schemas.openxmlformats.org/drawingml/2006/main" noGrp="1"/>
          </p:cNvSpPr>
          <p:nvPr/>
        </p:nvSpPr>
        <p:spPr>
          <a:xfrm xmlns:a="http://schemas.openxmlformats.org/drawingml/2006/main">
            <a:off x="3238500" y="4762500"/>
            <a:ext cx="571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2EFE9"/>
                </a:solidFill>
                <a:latin typeface="Helvetica Neue"/>
                <a:ea typeface="Helvetica Neue"/>
                <a:cs typeface="Helvetica Neue"/>
              </a:defRPr>
            </a:pPr>
            <a:r>
              <a:rPr sz="3000" b="1">
                <a:solidFill>
                  <a:srgbClr val="F2EFE9"/>
                </a:solidFill>
                <a:latin typeface="Helvetica Neue"/>
                <a:ea typeface="Helvetica Neue"/>
                <a:cs typeface="Helvetica Neue"/>
              </a:rPr>
              <a:t>Disk: state, photos, undo log</a:t>
            </a:r>
          </a:p>
        </p:txBody>
      </p:sp>
      <p:sp>
        <p:nvSpPr>
          <p:cNvPr id="13" name="">
            <a:extLst xmlns:a="http://schemas.openxmlformats.org/drawingml/2006/main">
              <a:ext uri="{FF2B5EF4-FFF2-40B4-BE49-F238E27FC236}">
                <a16:creationId xmlns:a16="http://schemas.microsoft.com/office/drawing/2014/main" id="{76DFB7C2-344E-4516-80F1-7E090741EA18}"/>
              </a:ext>
            </a:extLst>
          </p:cNvPr>
          <p:cNvSpPr>
            <a:spLocks xmlns:a="http://schemas.openxmlformats.org/drawingml/2006/main" noGrp="1"/>
          </p:cNvSpPr>
          <p:nvPr/>
        </p:nvSpPr>
        <p:spPr>
          <a:xfrm xmlns:a="http://schemas.openxmlformats.org/drawingml/2006/main">
            <a:off x="685800" y="59531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Target deployment · cloud validation pending</a:t>
            </a:r>
          </a:p>
        </p:txBody>
      </p:sp>
    </p:spTree>
    <p:extLst>
      <p:ext uri="{BB962C8B-B14F-4D97-AF65-F5344CB8AC3E}">
        <p14:creationId xmlns:p14="http://schemas.microsoft.com/office/powerpoint/2010/main" val="1975466086"/>
      </p:ext>
    </p:extLst>
  </p:cSld>
</p:sld>
</file>

<file path=ppt/slides/slide6.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E143CE-751F-4870-93B9-C68941AA48B6}"/>
              </a:ext>
            </a:extLst>
          </p:cNvPr>
          <p:cNvSpPr>
            <a:spLocks xmlns:a="http://schemas.openxmlformats.org/drawingml/2006/main" noGrp="1"/>
          </p:cNvSpPr>
          <p:nvPr/>
        </p:nvSpPr>
        <p:spPr>
          <a:xfrm xmlns:a="http://schemas.openxmlformats.org/drawingml/2006/main">
            <a:off x="685800" y="571500"/>
            <a:ext cx="10763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Why its own computer?</a:t>
            </a:r>
          </a:p>
        </p:txBody>
      </p:sp>
      <p:sp>
        <p:nvSpPr>
          <p:cNvPr id="2" name="">
            <a:extLst xmlns:a="http://schemas.openxmlformats.org/drawingml/2006/main">
              <a:ext uri="{FF2B5EF4-FFF2-40B4-BE49-F238E27FC236}">
                <a16:creationId xmlns:a16="http://schemas.microsoft.com/office/drawing/2014/main" id="{41670E19-63CB-41FB-BC59-293818952926}"/>
              </a:ext>
            </a:extLst>
          </p:cNvPr>
          <p:cNvSpPr>
            <a:spLocks xmlns:a="http://schemas.openxmlformats.org/drawingml/2006/main" noGrp="1"/>
          </p:cNvSpPr>
          <p:nvPr/>
        </p:nvSpPr>
        <p:spPr>
          <a:xfrm xmlns:a="http://schemas.openxmlformats.org/drawingml/2006/main">
            <a:off x="685800" y="2143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It lives for 18 hours.</a:t>
            </a:r>
          </a:p>
        </p:txBody>
      </p:sp>
      <p:sp>
        <p:nvSpPr>
          <p:cNvPr id="3" name="">
            <a:extLst xmlns:a="http://schemas.openxmlformats.org/drawingml/2006/main">
              <a:ext uri="{FF2B5EF4-FFF2-40B4-BE49-F238E27FC236}">
                <a16:creationId xmlns:a16="http://schemas.microsoft.com/office/drawing/2014/main" id="{F84C97DD-C019-4C92-8B51-7F3572F483B7}"/>
              </a:ext>
            </a:extLst>
          </p:cNvPr>
          <p:cNvSpPr>
            <a:spLocks xmlns:a="http://schemas.openxmlformats.org/drawingml/2006/main" noGrp="1"/>
          </p:cNvSpPr>
          <p:nvPr/>
        </p:nvSpPr>
        <p:spPr>
          <a:xfrm xmlns:a="http://schemas.openxmlformats.org/drawingml/2006/main">
            <a:off x="685800" y="3286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2EFE9"/>
                </a:solidFill>
                <a:latin typeface="Helvetica Neue"/>
                <a:ea typeface="Helvetica Neue"/>
                <a:cs typeface="Helvetica Neue"/>
              </a:defRPr>
            </a:pPr>
            <a:r>
              <a:rPr sz="4800" b="1">
                <a:solidFill>
                  <a:srgbClr val="F2EFE9"/>
                </a:solidFill>
                <a:latin typeface="Helvetica Neue"/>
                <a:ea typeface="Helvetica Neue"/>
                <a:cs typeface="Helvetica Neue"/>
              </a:rPr>
              <a:t>It accumulates.</a:t>
            </a:r>
          </a:p>
        </p:txBody>
      </p:sp>
      <p:sp>
        <p:nvSpPr>
          <p:cNvPr id="4" name="">
            <a:extLst xmlns:a="http://schemas.openxmlformats.org/drawingml/2006/main">
              <a:ext uri="{FF2B5EF4-FFF2-40B4-BE49-F238E27FC236}">
                <a16:creationId xmlns:a16="http://schemas.microsoft.com/office/drawing/2014/main" id="{05E33269-6D98-4E4C-A00F-35ED69E618AF}"/>
              </a:ext>
            </a:extLst>
          </p:cNvPr>
          <p:cNvSpPr>
            <a:spLocks xmlns:a="http://schemas.openxmlformats.org/drawingml/2006/main" noGrp="1"/>
          </p:cNvSpPr>
          <p:nvPr/>
        </p:nvSpPr>
        <p:spPr>
          <a:xfrm xmlns:a="http://schemas.openxmlformats.org/drawingml/2006/main">
            <a:off x="685800" y="44291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9A62"/>
                </a:solidFill>
                <a:latin typeface="Helvetica Neue"/>
                <a:ea typeface="Helvetica Neue"/>
                <a:cs typeface="Helvetica Neue"/>
              </a:defRPr>
            </a:pPr>
            <a:r>
              <a:rPr sz="4800" b="1">
                <a:solidFill>
                  <a:srgbClr val="FF9A62"/>
                </a:solidFill>
                <a:latin typeface="Helvetica Neue"/>
                <a:ea typeface="Helvetica Neue"/>
                <a:cs typeface="Helvetica Neue"/>
              </a:rPr>
              <a:t>Its state is a savable object.</a:t>
            </a:r>
          </a:p>
        </p:txBody>
      </p:sp>
      <p:sp>
        <p:nvSpPr>
          <p:cNvPr id="5" name="">
            <a:extLst xmlns:a="http://schemas.openxmlformats.org/drawingml/2006/main">
              <a:ext uri="{FF2B5EF4-FFF2-40B4-BE49-F238E27FC236}">
                <a16:creationId xmlns:a16="http://schemas.microsoft.com/office/drawing/2014/main" id="{898FE0AE-9E4C-4D48-9EAD-9ED292325671}"/>
              </a:ext>
            </a:extLst>
          </p:cNvPr>
          <p:cNvSpPr>
            <a:spLocks xmlns:a="http://schemas.openxmlformats.org/drawingml/2006/main" noGrp="1"/>
          </p:cNvSpPr>
          <p:nvPr/>
        </p:nvSpPr>
        <p:spPr>
          <a:xfrm xmlns:a="http://schemas.openxmlformats.org/drawingml/2006/main">
            <a:off x="685800" y="59055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A8AAA6"/>
                </a:solidFill>
                <a:latin typeface="Helvetica Neue"/>
                <a:ea typeface="Helvetica Neue"/>
                <a:cs typeface="Helvetica Neue"/>
              </a:defRPr>
            </a:pPr>
            <a:r>
              <a:rPr sz="3000" b="0">
                <a:solidFill>
                  <a:srgbClr val="A8AAA6"/>
                </a:solidFill>
                <a:latin typeface="Helvetica Neue"/>
                <a:ea typeface="Helvetica Neue"/>
                <a:cs typeface="Helvetica Neue"/>
              </a:rPr>
              <a:t>Overnight run + checkpoint proof pending</a:t>
            </a:r>
          </a:p>
        </p:txBody>
      </p:sp>
    </p:spTree>
    <p:extLst>
      <p:ext uri="{BB962C8B-B14F-4D97-AF65-F5344CB8AC3E}">
        <p14:creationId xmlns:p14="http://schemas.microsoft.com/office/powerpoint/2010/main" val="1315263968"/>
      </p:ext>
    </p:extLst>
  </p:cSld>
</p:sld>
</file>

<file path=ppt/slides/slide7.xml><?xml version="1.0" encoding="utf-8"?>
<p:sld xmlns:p="http://schemas.openxmlformats.org/presentationml/2006/main">
  <p:cSld>
    <p:bg>
      <p:bgPr>
        <a:solidFill xmlns:a="http://schemas.openxmlformats.org/drawingml/2006/main">
          <a:srgbClr val="101111"/>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715616-86C7-4C99-8F72-9C9BAB321A16}"/>
              </a:ext>
            </a:extLst>
          </p:cNvPr>
          <p:cNvSpPr>
            <a:spLocks xmlns:a="http://schemas.openxmlformats.org/drawingml/2006/main" noGrp="1"/>
          </p:cNvSpPr>
          <p:nvPr/>
        </p:nvSpPr>
        <p:spPr>
          <a:xfrm xmlns:a="http://schemas.openxmlformats.org/drawingml/2006/main">
            <a:off x="685800" y="2238375"/>
            <a:ext cx="10668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0" b="1">
                <a:solidFill>
                  <a:srgbClr val="FF9A62"/>
                </a:solidFill>
                <a:latin typeface="Helvetica Neue"/>
                <a:ea typeface="Helvetica Neue"/>
                <a:cs typeface="Helvetica Neue"/>
              </a:defRPr>
            </a:pPr>
            <a:r>
              <a:rPr sz="13500" b="1">
                <a:solidFill>
                  <a:srgbClr val="FF9A62"/>
                </a:solidFill>
                <a:latin typeface="Helvetica Neue"/>
                <a:ea typeface="Helvetica Neue"/>
                <a:cs typeface="Helvetica Neue"/>
              </a:rPr>
              <a:t>Demo.</a:t>
            </a:r>
          </a:p>
        </p:txBody>
      </p:sp>
    </p:spTree>
    <p:extLst>
      <p:ext uri="{BB962C8B-B14F-4D97-AF65-F5344CB8AC3E}">
        <p14:creationId xmlns:p14="http://schemas.microsoft.com/office/powerpoint/2010/main" val="24336932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2026-09-12T20:28:25.1300000Z</dcterms:created>
  <dcterms:modified xsi:type="dcterms:W3CDTF">2026-09-12T20:28:25.1300000Z</dcterms:modified>
</coreProperties>
</file>
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47ee0ec9f8340cb" /><Relationship Type="http://schemas.openxmlformats.org/officeDocument/2006/relationships/extended-properties" Target="/docProps/app.xml" Id="R953117d95a744155" /><Relationship Type="http://schemas.openxmlformats.org/officeDocument/2006/relationships/officeDocument" Target="/ppt/presentation.xml" Id="Rdd26fedd6eb14e1f" /></Relationships>
</file>

<file path=ppt/presentation.xml><?xml version="1.0" encoding="utf-8"?>
<p:presentation xmlns:p="http://schemas.openxmlformats.org/presentationml/2006/main">
  <p:sldMasterIdLst>
    <p:sldMasterId xmlns:r="http://schemas.openxmlformats.org/officeDocument/2006/relationships" id="2147483648" r:id="Rcda1707fa1374623"/>
  </p:sldMasterIdLst>
  <p:notesMasterIdLst>
    <p:notesMasterId xmlns:r="http://schemas.openxmlformats.org/officeDocument/2006/relationships" r:id="R4fa8d73cce734b47"/>
  </p:notesMasterIdLst>
  <p:sldIdLst>
    <p:sldId xmlns:r="http://schemas.openxmlformats.org/officeDocument/2006/relationships" id="256" r:id="R23022d7cd4ae4301"/>
    <p:sldId xmlns:r="http://schemas.openxmlformats.org/officeDocument/2006/relationships" id="257" r:id="R67a0c16d38fc4c4a"/>
    <p:sldId xmlns:r="http://schemas.openxmlformats.org/officeDocument/2006/relationships" id="258" r:id="Re6468e3aef3e4ee0"/>
    <p:sldId xmlns:r="http://schemas.openxmlformats.org/officeDocument/2006/relationships" id="259" r:id="R6f38d3107bb0461f"/>
    <p:sldId xmlns:r="http://schemas.openxmlformats.org/officeDocument/2006/relationships" id="260" r:id="R7d1a8330e63047c1"/>
    <p:sldId xmlns:r="http://schemas.openxmlformats.org/officeDocument/2006/relationships" id="261" r:id="Rea2b2f35f3694a01"/>
    <p:sldId xmlns:r="http://schemas.openxmlformats.org/officeDocument/2006/relationships" id="262" r:id="Rd9ecf1301d7b44c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17cda595d984803" /><Relationship Type="http://schemas.openxmlformats.org/officeDocument/2006/relationships/slideMaster" Target="/ppt/slideMasters/slideMaster1.xml" Id="Rcda1707fa1374623" /><Relationship Type="http://schemas.openxmlformats.org/officeDocument/2006/relationships/notesMaster" Target="/ppt/notesMasters/notesMaster1.xml" Id="R4fa8d73cce734b47" /><Relationship Type="http://schemas.openxmlformats.org/officeDocument/2006/relationships/presProps" Target="/ppt/presProps.xml" Id="Rcfacfef429964b9d" /><Relationship Type="http://schemas.openxmlformats.org/officeDocument/2006/relationships/tableStyles" Target="/ppt/tableStyles.xml" Id="R2f63e37de78f47ad" /><Relationship Type="http://schemas.openxmlformats.org/officeDocument/2006/relationships/slide" Target="/ppt/slides/slide1.xml" Id="R23022d7cd4ae4301" /><Relationship Type="http://schemas.openxmlformats.org/officeDocument/2006/relationships/slide" Target="/ppt/slides/slide2.xml" Id="R67a0c16d38fc4c4a" /><Relationship Type="http://schemas.openxmlformats.org/officeDocument/2006/relationships/slide" Target="/ppt/slides/slide3.xml" Id="Re6468e3aef3e4ee0" /><Relationship Type="http://schemas.openxmlformats.org/officeDocument/2006/relationships/slide" Target="/ppt/slides/slide4.xml" Id="R6f38d3107bb0461f" /><Relationship Type="http://schemas.openxmlformats.org/officeDocument/2006/relationships/slide" Target="/ppt/slides/slide5.xml" Id="R7d1a8330e63047c1" /><Relationship Type="http://schemas.openxmlformats.org/officeDocument/2006/relationships/slide" Target="/ppt/slides/slide6.xml" Id="Rea2b2f35f3694a01" /><Relationship Type="http://schemas.openxmlformats.org/officeDocument/2006/relationships/slide" Target="/ppt/slides/slide7.xml" Id="Rd9ecf1301d7b44c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e56ca5b8e2e4f7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04530f7bf7442aa" /><Relationship Type="http://schemas.openxmlformats.org/officeDocument/2006/relationships/notesMaster" Target="/ppt/notesMasters/notesMaster1.xml" Id="R113d56e9557b48ed" /></Relationships>
</file>

<file path=ppt/notesSlides/_rels/notesSlide2.xml.rels>&#65279;<?xml version="1.0" encoding="utf-8"?><Relationships xmlns="http://schemas.openxmlformats.org/package/2006/relationships"><Relationship Type="http://schemas.openxmlformats.org/officeDocument/2006/relationships/slide" Target="/ppt/slides/slide2.xml" Id="Rfa913f9d18a346cd" /><Relationship Type="http://schemas.openxmlformats.org/officeDocument/2006/relationships/notesMaster" Target="/ppt/notesMasters/notesMaster1.xml" Id="Rc9a5d498d1c54946" /></Relationships>
</file>

<file path=ppt/notesSlides/_rels/notesSlide3.xml.rels>&#65279;<?xml version="1.0" encoding="utf-8"?><Relationships xmlns="http://schemas.openxmlformats.org/package/2006/relationships"><Relationship Type="http://schemas.openxmlformats.org/officeDocument/2006/relationships/slide" Target="/ppt/slides/slide3.xml" Id="Ra26849ea640648f5" /><Relationship Type="http://schemas.openxmlformats.org/officeDocument/2006/relationships/notesMaster" Target="/ppt/notesMasters/notesMaster1.xml" Id="R7a5eb1626dd9447e" /></Relationships>
</file>

<file path=ppt/notesSlides/_rels/notesSlide4.xml.rels>&#65279;<?xml version="1.0" encoding="utf-8"?><Relationships xmlns="http://schemas.openxmlformats.org/package/2006/relationships"><Relationship Type="http://schemas.openxmlformats.org/officeDocument/2006/relationships/slide" Target="/ppt/slides/slide4.xml" Id="R63bb183ace6e4f1d" /><Relationship Type="http://schemas.openxmlformats.org/officeDocument/2006/relationships/notesMaster" Target="/ppt/notesMasters/notesMaster1.xml" Id="Rfd547ca2d13c4b73" /></Relationships>
</file>

<file path=ppt/notesSlides/_rels/notesSlide5.xml.rels>&#65279;<?xml version="1.0" encoding="utf-8"?><Relationships xmlns="http://schemas.openxmlformats.org/package/2006/relationships"><Relationship Type="http://schemas.openxmlformats.org/officeDocument/2006/relationships/slide" Target="/ppt/slides/slide5.xml" Id="Rc9d8fc21ab4e4c14" /><Relationship Type="http://schemas.openxmlformats.org/officeDocument/2006/relationships/notesMaster" Target="/ppt/notesMasters/notesMaster1.xml" Id="Rbaacaad16e96442a" /></Relationships>
</file>

<file path=ppt/notesSlides/_rels/notesSlide6.xml.rels>&#65279;<?xml version="1.0" encoding="utf-8"?><Relationships xmlns="http://schemas.openxmlformats.org/package/2006/relationships"><Relationship Type="http://schemas.openxmlformats.org/officeDocument/2006/relationships/slide" Target="/ppt/slides/slide6.xml" Id="R55e139f98d494765" /><Relationship Type="http://schemas.openxmlformats.org/officeDocument/2006/relationships/notesMaster" Target="/ppt/notesMasters/notesMaster1.xml" Id="R26367b4f59464526" /></Relationships>
</file>

<file path=ppt/notesSlides/_rels/notesSlide7.xml.rels>&#65279;<?xml version="1.0" encoding="utf-8"?><Relationships xmlns="http://schemas.openxmlformats.org/package/2006/relationships"><Relationship Type="http://schemas.openxmlformats.org/officeDocument/2006/relationships/slide" Target="/ppt/slides/slide7.xml" Id="R56e26eefb6ec423e" /><Relationship Type="http://schemas.openxmlformats.org/officeDocument/2006/relationships/notesMaster" Target="/ppt/notesMasters/notesMaster1.xml" Id="R0f0a97f43dbc493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Opening, 15 seconds. Vian: AMMA is a parent with root access. Team Sharma Ji Ka Bot.</a:t>
            </a:r>
          </a:p>
          <a:p xmlns:a="http://schemas.openxmlformats.org/drawingml/2006/main">
            <a:r>
              <a:t>Source: UTWAT_Master_doc.md, sections 1, 2, 8 and 13. Implementation status checked September 12,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Problem, 20 seconds. Team origin story supplied in the brief, not a research claim.</a:t>
            </a:r>
          </a:p>
          <a:p xmlns:a="http://schemas.openxmlformats.org/drawingml/2006/main">
            <a:r>
              <a:t>Source: UTWAT_Master_doc.md, sections 1, 2, 8 and 13. Implementation status checked September 12,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Capabilities, 20 seconds. Live Google Calendar and Gmail checks passed; OpenRouter free-model generation passed. Instagram login failed, so the demo uses a clearly labeled local mock with the real chosen photo and generated caption. Simulated sharing is local only. The final Share remains human-controlled.</a:t>
            </a:r>
          </a:p>
          <a:p xmlns:a="http://schemas.openxmlformats.org/drawingml/2006/main">
            <a:r>
              <a:t>Source: UTWAT_Master_doc.md, sections 1, 2, 8 and 13. Implementation status checked September 12,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Escalation, 25 seconds. Thresholds match frozen src/config.ts: nudging 12h, invasive 6h, hostile 2h, armed 15 minutes. At zero the state becomes fired, but the loop does not publish. Mark done restores Calendar, clears captions and releases the armed browser.</a:t>
            </a:r>
          </a:p>
          <a:p xmlns:a="http://schemas.openxmlformats.org/drawingml/2006/main">
            <a:r>
              <a:t>Source: UTWAT_Master_doc.md, sections 1, 2, 8 and 13. Implementation status checked September 12,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Architecture, 30 seconds. Steel Computer beta is activated. The Node loop completed an offline simulation on cloud Debian and a checkpoint reached ready. Browser launch crashes with SIGTRAP, so browser restoration is not verified. The local endurance test began September 12 at 18:36 Toronto; completion is pending. Steel Browser uses persistent profiles and CDP. Google contains Calendar and Gmail; disk contains state, photos and undo journal. OpenRouter supplies wording.</a:t>
            </a:r>
          </a:p>
          <a:p xmlns:a="http://schemas.openxmlformats.org/drawingml/2006/main">
            <a:r>
              <a:t>Source: UTWAT_Master_doc.md, sections 1, 2, 8 and 13. Implementation status checked September 12,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Wildcard, 45 seconds. The three original points, verbatim:</a:t>
            </a:r>
          </a:p>
          <a:p xmlns:a="http://schemas.openxmlformats.org/drawingml/2006/main">
            <a:r>
              <a:t>It lives for 18 hours. The behaviour is a slow escalation over real time, not a request/response. There is no "run" — there's a thing that's been awake since yesterday afternoon.</a:t>
            </a:r>
          </a:p>
          <a:p xmlns:a="http://schemas.openxmlformats.org/drawingml/2006/main">
            <a:r>
              <a:t>It accumulates. The photo vault, the escalating roast drafts, the undo log of every calendar event it has vandalised. All on its own disk, all growing.</a:t>
            </a:r>
          </a:p>
          <a:p xmlns:a="http://schemas.openxmlformats.org/drawingml/2006/main">
            <a:r>
              <a:t>Its state is a savable object. We checkpoint the exact moment before it posts — browser session live, photo attached, caption written, button lit — and restore that same loaded moment fresh for each judge. Checkpoints save memory and processes, not just disk. Each judge personally decides whether to press send.</a:t>
            </a:r>
          </a:p>
          <a:p xmlns:a="http://schemas.openxmlformats.org/drawingml/2006/main">
            <a:r>
              <a:t>Status qualification: the third point is the intended demonstration, NOT a completed claim. A cloud checkpoint is ready; restore validation is pending. An 18-hour local wall-clock run is in progress with offline/mock services. Browser launch fails with SIGTRAP in the cloud beta. Keep this caveat visible until evidence exists.</a:t>
            </a:r>
          </a:p>
          <a:p xmlns:a="http://schemas.openxmlformats.org/drawingml/2006/main">
            <a:r>
              <a:t>Source: UTWAT_Master_doc.md, sections 1, 2, 8 and 13. Implementation status checked September 12,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Demo, 90 seconds. Run npm run mock, open the dashboard on localhost port 3000. All demo Calendar and Gmail actions use offline fixtures. At Armed open the mock Instagram link to show the real chosen photo and caption. Share in mock only simulates publishing locally and never contacts Instagram. Use the exact mark-done command printed by the launcher to cancel an unshared draft and restore the simulated calendar. Vian narrates; CS operates; EE watches time. Real Instagram login and Steel Computer restoration remain unverified. The local real-time endurance run is in progress; do not present it as complete.</a:t>
            </a:r>
          </a:p>
          <a:p xmlns:a="http://schemas.openxmlformats.org/drawingml/2006/main">
            <a:r>
              <a:t>Source: UTWAT_Master_doc.md, sections 1, 2, 8 and 13. Implementation status checked September 12,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511c06832fb450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98299ce973f45cd" /><Relationship Type="http://schemas.openxmlformats.org/officeDocument/2006/relationships/slideLayout" Target="/ppt/slideLayouts/slideLayout1.xml" Id="R3f7591b2c8a046a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f7591b2c8a046a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fe3e0c328e68481f" /><Relationship Type="http://schemas.openxmlformats.org/officeDocument/2006/relationships/notesSlide" Target="/ppt/notesSlides/notesSlide1.xml" Id="R4e1bf926956c4191"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0f9758492b5a49dc" /><Relationship Type="http://schemas.openxmlformats.org/officeDocument/2006/relationships/notesSlide" Target="/ppt/notesSlides/notesSlide2.xml" Id="R977efbce262146f0"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0805e9fb0e62453c" /><Relationship Type="http://schemas.openxmlformats.org/officeDocument/2006/relationships/notesSlide" Target="/ppt/notesSlides/notesSlide3.xml" Id="R4ed94cb0848245af"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a03912a9a0ba4033" /><Relationship Type="http://schemas.openxmlformats.org/officeDocument/2006/relationships/notesSlide" Target="/ppt/notesSlides/notesSlide4.xml" Id="R7a9c781eba734fb4"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e5fa31a92eb84f48" /><Relationship Type="http://schemas.openxmlformats.org/officeDocument/2006/relationships/notesSlide" Target="/ppt/notesSlides/notesSlide5.xml" Id="Re2c11db84bcd4e43"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bfe6ecc954004db9" /><Relationship Type="http://schemas.openxmlformats.org/officeDocument/2006/relationships/notesSlide" Target="/ppt/notesSlides/notesSlide6.xml" Id="R510c87f64a5b484e"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c88b537f995143c5" /><Relationship Type="http://schemas.openxmlformats.org/officeDocument/2006/relationships/notesSlide" Target="/ppt/notesSlides/notesSlide7.xml" Id="R58582e5aca7c45ff" /></Relationships>
</file>

<file path=ppt/slides/slide1.xml><?xml version="1.0" encoding="utf-8"?>
<p:sld xmlns:p="http://schemas.openxmlformats.org/presentationml/2006/main">
  <p:cSld>
    <p:bg>
      <p:bgPr>
        <a:solidFill xmlns:a="http://schemas.openxmlformats.org/drawingml/2006/main">
          <a:srgbClr val="101111"/>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8CBCBBBB-298A-4A79-9203-61740D9ACBE5}"/>
              </a:ext>
            </a:extLst>
          </p:cNvPr>
          <p:cNvSpPr>
            <a:spLocks xmlns:a="http://schemas.openxmlformats.org/drawingml/2006/main" noGrp="1"/>
          </p:cNvSpPr>
          <p:nvPr/>
        </p:nvSpPr>
        <p:spPr>
          <a:xfrm xmlns:a="http://schemas.openxmlformats.org/drawingml/2006/main">
            <a:off x="685800" y="1190625"/>
            <a:ext cx="10477500"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7800" b="1">
                <a:solidFill>
                  <a:srgbClr val="F2EFE9"/>
                </a:solidFill>
                <a:latin typeface="Helvetica Neue"/>
                <a:ea typeface="Helvetica Neue"/>
                <a:cs typeface="Helvetica Neue"/>
              </a:defRPr>
            </a:pPr>
            <a:r>
              <a:rPr sz="7800" b="1">
                <a:solidFill>
                  <a:srgbClr val="F2EFE9"/>
                </a:solidFill>
                <a:latin typeface="Helvetica Neue"/>
                <a:ea typeface="Helvetica Neue"/>
                <a:cs typeface="Helvetica Neue"/>
              </a:rPr>
              <a:t>The Deadline</a:t>
            </a:r>
          </a:p>
          <a:p xmlns:a="http://schemas.openxmlformats.org/drawingml/2006/main">
            <a:pPr>
              <a:defRPr sz="7800" b="1">
                <a:solidFill>
                  <a:srgbClr val="F2EFE9"/>
                </a:solidFill>
                <a:latin typeface="Helvetica Neue"/>
                <a:ea typeface="Helvetica Neue"/>
                <a:cs typeface="Helvetica Neue"/>
              </a:defRPr>
            </a:pPr>
            <a:r>
              <a:rPr sz="7800" b="1">
                <a:solidFill>
                  <a:srgbClr val="F2EFE9"/>
                </a:solidFill>
                <a:latin typeface="Helvetica Neue"/>
                <a:ea typeface="Helvetica Neue"/>
                <a:cs typeface="Helvetica Neue"/>
              </a:rPr>
              <a:t>Hostage</a:t>
            </a:r>
          </a:p>
        </p:txBody>
      </p:sp>
      <p:sp>
        <p:nvSpPr>
          <p:cNvPr id="2" name="">
            <a:extLst xmlns:a="http://schemas.openxmlformats.org/drawingml/2006/main">
              <a:ext uri="{FF2B5EF4-FFF2-40B4-BE49-F238E27FC236}">
                <a16:creationId xmlns:a16="http://schemas.microsoft.com/office/drawing/2014/main" id="{02058322-E9C8-4B7D-AB09-5BAF6F455F44}"/>
              </a:ext>
            </a:extLst>
          </p:cNvPr>
          <p:cNvSpPr>
            <a:spLocks xmlns:a="http://schemas.openxmlformats.org/drawingml/2006/main" noGrp="1"/>
          </p:cNvSpPr>
          <p:nvPr/>
        </p:nvSpPr>
        <p:spPr>
          <a:xfrm xmlns:a="http://schemas.openxmlformats.org/drawingml/2006/main">
            <a:off x="781050" y="4095750"/>
            <a:ext cx="10477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200" b="0">
                <a:solidFill>
                  <a:srgbClr val="FF9A62"/>
                </a:solidFill>
                <a:latin typeface="Helvetica Neue"/>
                <a:ea typeface="Helvetica Neue"/>
                <a:cs typeface="Helvetica Neue"/>
              </a:defRPr>
            </a:pPr>
            <a:r>
              <a:rPr sz="4200" b="0">
                <a:solidFill>
                  <a:srgbClr val="FF9A62"/>
                </a:solidFill>
                <a:latin typeface="Helvetica Neue"/>
                <a:ea typeface="Helvetica Neue"/>
                <a:cs typeface="Helvetica Neue"/>
              </a:rPr>
              <a:t>A parent with root access.</a:t>
            </a:r>
          </a:p>
        </p:txBody>
      </p:sp>
      <p:sp>
        <p:nvSpPr>
          <p:cNvPr id="3" name="">
            <a:extLst xmlns:a="http://schemas.openxmlformats.org/drawingml/2006/main">
              <a:ext uri="{FF2B5EF4-FFF2-40B4-BE49-F238E27FC236}">
                <a16:creationId xmlns:a16="http://schemas.microsoft.com/office/drawing/2014/main" id="{94232C21-D7E8-476F-BFC7-545E812C592B}"/>
              </a:ext>
            </a:extLst>
          </p:cNvPr>
          <p:cNvSpPr>
            <a:spLocks xmlns:a="http://schemas.openxmlformats.org/drawingml/2006/main" noGrp="1"/>
          </p:cNvSpPr>
          <p:nvPr/>
        </p:nvSpPr>
        <p:spPr>
          <a:xfrm xmlns:a="http://schemas.openxmlformats.org/drawingml/2006/main">
            <a:off x="781050" y="5762625"/>
            <a:ext cx="1047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0">
                <a:solidFill>
                  <a:srgbClr val="A8AAA6"/>
                </a:solidFill>
                <a:latin typeface="Helvetica Neue"/>
                <a:ea typeface="Helvetica Neue"/>
                <a:cs typeface="Helvetica Neue"/>
              </a:defRPr>
            </a:pPr>
            <a:r>
              <a:rPr sz="3000" b="0">
                <a:solidFill>
                  <a:srgbClr val="A8AAA6"/>
                </a:solidFill>
                <a:latin typeface="Helvetica Neue"/>
                <a:ea typeface="Helvetica Neue"/>
                <a:cs typeface="Helvetica Neue"/>
              </a:rPr>
              <a:t>Sharma Ji Ka Bot</a:t>
            </a:r>
          </a:p>
        </p:txBody>
      </p:sp>
    </p:spTree>
    <p:extLst>
      <p:ext uri="{BB962C8B-B14F-4D97-AF65-F5344CB8AC3E}">
        <p14:creationId xmlns:p14="http://schemas.microsoft.com/office/powerpoint/2010/main" val="371413948"/>
      </p:ext>
    </p:extLst>
  </p:cSld>
</p:sld>
</file>

<file path=ppt/slides/slide2.xml><?xml version="1.0" encoding="utf-8"?>
<p:sld xmlns:p="http://schemas.openxmlformats.org/presentationml/2006/main">
  <p:cSld>
    <p:bg>
      <p:bgPr>
        <a:solidFill xmlns:a="http://schemas.openxmlformats.org/drawingml/2006/main">
          <a:srgbClr val="101111"/>
        </a:solidFill>
      </p:bgPr>
    </p:bg>
    <p:spTree>
      <p:nvGrpSpPr>
        <p:cNvPr id="1" name=""/>
        <p:cNvGrpSpPr/>
        <p:nvPr/>
      </p:nvGrpSpPr>
      <p:grpSpPr>
        <a:xfrm xmlns:a="http://schemas.openxmlformats.org/drawingml/2006/main"/>
      </p:grpSpPr>
      <p:sp>
        <p:nvSpPr>
          <p:cNvPr id="3" name="">
            <a:extLst xmlns:a="http://schemas.openxmlformats.org/drawingml/2006/main">
              <a:ext uri="{FF2B5EF4-FFF2-40B4-BE49-F238E27FC236}">
                <a16:creationId xmlns:a16="http://schemas.microsoft.com/office/drawing/2014/main" id="{FFC2CCD9-2C22-44A5-A290-69E544176586}"/>
              </a:ext>
            </a:extLst>
          </p:cNvPr>
          <p:cNvSpPr>
            <a:spLocks xmlns:a="http://schemas.openxmlformats.org/drawingml/2006/main" noGrp="1"/>
          </p:cNvSpPr>
          <p:nvPr/>
        </p:nvSpPr>
        <p:spPr>
          <a:xfrm xmlns:a="http://schemas.openxmlformats.org/drawingml/2006/main">
            <a:off x="685800" y="1238250"/>
            <a:ext cx="107632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950" b="1">
                <a:solidFill>
                  <a:srgbClr val="F2EFE9"/>
                </a:solidFill>
                <a:latin typeface="Helvetica Neue"/>
                <a:ea typeface="Helvetica Neue"/>
                <a:cs typeface="Helvetica Neue"/>
              </a:defRPr>
            </a:pPr>
            <a:r>
              <a:rPr sz="4950" b="1">
                <a:solidFill>
                  <a:srgbClr val="F2EFE9"/>
                </a:solidFill>
                <a:latin typeface="Helvetica Neue"/>
                <a:ea typeface="Helvetica Neue"/>
                <a:cs typeface="Helvetica Neue"/>
              </a:rPr>
              <a:t>At home, our South Asian</a:t>
            </a:r>
          </a:p>
          <a:p xmlns:a="http://schemas.openxmlformats.org/drawingml/2006/main">
            <a:pPr>
              <a:defRPr sz="4950" b="1">
                <a:solidFill>
                  <a:srgbClr val="F2EFE9"/>
                </a:solidFill>
                <a:latin typeface="Helvetica Neue"/>
                <a:ea typeface="Helvetica Neue"/>
                <a:cs typeface="Helvetica Neue"/>
              </a:defRPr>
            </a:pPr>
            <a:r>
              <a:rPr sz="4950" b="1">
                <a:solidFill>
                  <a:srgbClr val="F2EFE9"/>
                </a:solidFill>
                <a:latin typeface="Helvetica Neue"/>
                <a:ea typeface="Helvetica Neue"/>
                <a:cs typeface="Helvetica Neue"/>
              </a:rPr>
              <a:t>parents made sure we studied.</a:t>
            </a:r>
          </a:p>
          <a:p xmlns:a="http://schemas.openxmlformats.org/drawingml/2006/main">
            <a:pPr>
              <a:defRPr sz="4950" b="1">
                <a:solidFill>
                  <a:srgbClr val="F2EFE9"/>
                </a:solidFill>
                <a:latin typeface="Helvetica Neue"/>
                <a:ea typeface="Helvetica Neue"/>
                <a:cs typeface="Helvetica Neue"/>
              </a:defRPr>
            </a:pPr>
            <a:r>
              <a:rPr sz="4950" b="1">
                <a:solidFill>
                  <a:srgbClr val="F2EFE9"/>
                </a:solidFill>
                <a:latin typeface="Helvetica Neue"/>
                <a:ea typeface="Helvetica Neue"/>
                <a:cs typeface="Helvetica Neue"/>
              </a:rPr>
              <a:t>At university, nobody did.</a:t>
            </a:r>
          </a:p>
        </p:txBody>
      </p:sp>
      <p:sp>
        <p:nvSpPr>
          <p:cNvPr id="2" name="">
            <a:extLst xmlns:a="http://schemas.openxmlformats.org/drawingml/2006/main">
              <a:ext uri="{FF2B5EF4-FFF2-40B4-BE49-F238E27FC236}">
                <a16:creationId xmlns:a16="http://schemas.microsoft.com/office/drawing/2014/main" id="{0AA17751-BFED-4B7C-98ED-19471018A79B}"/>
              </a:ext>
            </a:extLst>
          </p:cNvPr>
          <p:cNvSpPr>
            <a:spLocks xmlns:a="http://schemas.openxmlformats.org/drawingml/2006/main" noGrp="1"/>
          </p:cNvSpPr>
          <p:nvPr/>
        </p:nvSpPr>
        <p:spPr>
          <a:xfrm xmlns:a="http://schemas.openxmlformats.org/drawingml/2006/main">
            <a:off x="685800" y="5048250"/>
            <a:ext cx="1047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800" b="1">
                <a:solidFill>
                  <a:srgbClr val="FF9A62"/>
                </a:solidFill>
                <a:latin typeface="Helvetica Neue"/>
                <a:ea typeface="Helvetica Neue"/>
                <a:cs typeface="Helvetica Neue"/>
              </a:defRPr>
            </a:pPr>
            <a:r>
              <a:rPr sz="4800" b="1">
                <a:solidFill>
                  <a:srgbClr val="FF9A62"/>
                </a:solidFill>
                <a:latin typeface="Helvetica Neue"/>
                <a:ea typeface="Helvetica Neue"/>
                <a:cs typeface="Helvetica Neue"/>
              </a:rPr>
              <a:t>So we built this.</a:t>
            </a:r>
          </a:p>
        </p:txBody>
      </p:sp>
    </p:spTree>
    <p:extLst>
      <p:ext uri="{BB962C8B-B14F-4D97-AF65-F5344CB8AC3E}">
        <p14:creationId xmlns:p14="http://schemas.microsoft.com/office/powerpoint/2010/main" val="1509803968"/>
      </p:ext>
    </p:extLst>
  </p:cSld>
</p:sld>
</file>

<file path=ppt/slides/slide3.xml><?xml version="1.0" encoding="utf-8"?>
<p:sld xmlns:p="http://schemas.openxmlformats.org/presentationml/2006/main">
  <p:cSld>
    <p:bg>
      <p:bgPr>
        <a:solidFill xmlns:a="http://schemas.openxmlformats.org/drawingml/2006/main">
          <a:srgbClr val="101111"/>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DA3595CE-6DE7-4968-B31E-6BAB39021A4A}"/>
              </a:ext>
            </a:extLst>
          </p:cNvPr>
          <p:cNvSpPr>
            <a:spLocks xmlns:a="http://schemas.openxmlformats.org/drawingml/2006/main" noGrp="1"/>
          </p:cNvSpPr>
          <p:nvPr/>
        </p:nvSpPr>
        <p:spPr>
          <a:xfrm xmlns:a="http://schemas.openxmlformats.org/drawingml/2006/main">
            <a:off x="685800" y="619125"/>
            <a:ext cx="10763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800" b="1">
                <a:solidFill>
                  <a:srgbClr val="F2EFE9"/>
                </a:solidFill>
                <a:latin typeface="Helvetica Neue"/>
                <a:ea typeface="Helvetica Neue"/>
                <a:cs typeface="Helvetica Neue"/>
              </a:defRPr>
            </a:pPr>
            <a:r>
              <a:rPr sz="4800" b="1">
                <a:solidFill>
                  <a:srgbClr val="F2EFE9"/>
                </a:solidFill>
                <a:latin typeface="Helvetica Neue"/>
                <a:ea typeface="Helvetica Neue"/>
                <a:cs typeface="Helvetica Neue"/>
              </a:rPr>
              <a:t>A little pressure. Everywhere.</a:t>
            </a:r>
          </a:p>
        </p:txBody>
      </p:sp>
      <p:sp>
        <p:nvSpPr>
          <p:cNvPr id="2" name="">
            <a:extLst xmlns:a="http://schemas.openxmlformats.org/drawingml/2006/main">
              <a:ext uri="{FF2B5EF4-FFF2-40B4-BE49-F238E27FC236}">
                <a16:creationId xmlns:a16="http://schemas.microsoft.com/office/drawing/2014/main" id="{0868E546-5BAB-4B6C-B433-73BEF900572E}"/>
              </a:ext>
            </a:extLst>
          </p:cNvPr>
          <p:cNvSpPr>
            <a:spLocks xmlns:a="http://schemas.openxmlformats.org/drawingml/2006/main" noGrp="1"/>
          </p:cNvSpPr>
          <p:nvPr/>
        </p:nvSpPr>
        <p:spPr>
          <a:xfrm xmlns:a="http://schemas.openxmlformats.org/drawingml/2006/main">
            <a:off x="762000" y="2552700"/>
            <a:ext cx="1295400" cy="57150"/>
          </a:xfrm>
          <a:prstGeom xmlns:a="http://schemas.openxmlformats.org/drawingml/2006/main" prst="rect">
            <a:avLst/>
          </a:prstGeom>
          <a:solidFill xmlns:a="http://schemas.openxmlformats.org/drawingml/2006/main">
            <a:srgbClr val="FF9A6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8177E22A-50D4-4522-9E01-CB53B6D247B0}"/>
              </a:ext>
            </a:extLst>
          </p:cNvPr>
          <p:cNvSpPr>
            <a:spLocks xmlns:a="http://schemas.openxmlformats.org/drawingml/2006/main" noGrp="1"/>
          </p:cNvSpPr>
          <p:nvPr/>
        </p:nvSpPr>
        <p:spPr>
          <a:xfrm xmlns:a="http://schemas.openxmlformats.org/drawingml/2006/main">
            <a:off x="3667125" y="2552700"/>
            <a:ext cx="1295400" cy="57150"/>
          </a:xfrm>
          <a:prstGeom xmlns:a="http://schemas.openxmlformats.org/drawingml/2006/main" prst="rect">
            <a:avLst/>
          </a:prstGeom>
          <a:solidFill xmlns:a="http://schemas.openxmlformats.org/drawingml/2006/main">
            <a:srgbClr val="FF9A62"/>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D7A376E1-50AA-4C57-B4E8-6A4785C02BDF}"/>
              </a:ext>
            </a:extLst>
          </p:cNvPr>
          <p:cNvSpPr>
            <a:spLocks xmlns:a="http://schemas.openxmlformats.org/drawingml/2006/main" noGrp="1"/>
          </p:cNvSpPr>
          <p:nvPr/>
        </p:nvSpPr>
        <p:spPr>
          <a:xfrm xmlns:a="http://schemas.openxmlformats.org/drawingml/2006/main">
            <a:off x="6572250" y="2552700"/>
            <a:ext cx="1295400" cy="57150"/>
          </a:xfrm>
          <a:prstGeom xmlns:a="http://schemas.openxmlformats.org/drawingml/2006/main" prst="rect">
            <a:avLst/>
          </a:prstGeom>
          <a:solidFill xmlns:a="http://schemas.openxmlformats.org/drawingml/2006/main">
            <a:srgbClr val="FF9A62"/>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26ACC748-273E-4FE4-A51C-4893328FD302}"/>
              </a:ext>
            </a:extLst>
          </p:cNvPr>
          <p:cNvSpPr>
            <a:spLocks xmlns:a="http://schemas.openxmlformats.org/drawingml/2006/main" noGrp="1"/>
          </p:cNvSpPr>
          <p:nvPr/>
        </p:nvSpPr>
        <p:spPr>
          <a:xfrm xmlns:a="http://schemas.openxmlformats.org/drawingml/2006/main">
            <a:off x="9477375" y="2552700"/>
            <a:ext cx="1295400" cy="57150"/>
          </a:xfrm>
          <a:prstGeom xmlns:a="http://schemas.openxmlformats.org/drawingml/2006/main" prst="rect">
            <a:avLst/>
          </a:prstGeom>
          <a:solidFill xmlns:a="http://schemas.openxmlformats.org/drawingml/2006/main">
            <a:srgbClr val="FF9A62"/>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F8D18482-2B46-4035-A036-1AD7797C56F0}"/>
              </a:ext>
            </a:extLst>
          </p:cNvPr>
          <p:cNvSpPr>
            <a:spLocks xmlns:a="http://schemas.openxmlformats.org/drawingml/2006/main" noGrp="1"/>
          </p:cNvSpPr>
          <p:nvPr/>
        </p:nvSpPr>
        <p:spPr>
          <a:xfrm xmlns:a="http://schemas.openxmlformats.org/drawingml/2006/main">
            <a:off x="762000" y="2762250"/>
            <a:ext cx="1238250" cy="809625"/>
          </a:xfrm>
          <a:prstGeom xmlns:a="http://schemas.openxmlformats.org/drawingml/2006/main" prst="rect">
            <a:avLst/>
          </a:prstGeom>
          <a:solidFill xmlns:a="http://schemas.openxmlformats.org/drawingml/2006/main">
            <a:srgbClr val="252828"/>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5C0CDD13-6432-4149-9DC9-F4F73F90CCF5}"/>
              </a:ext>
            </a:extLst>
          </p:cNvPr>
          <p:cNvSpPr>
            <a:spLocks xmlns:a="http://schemas.openxmlformats.org/drawingml/2006/main" noGrp="1"/>
          </p:cNvSpPr>
          <p:nvPr/>
        </p:nvSpPr>
        <p:spPr>
          <a:xfrm xmlns:a="http://schemas.openxmlformats.org/drawingml/2006/main">
            <a:off x="933450" y="2743200"/>
            <a:ext cx="9048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950" b="1">
                <a:solidFill>
                  <a:srgbClr val="FF9A62"/>
                </a:solidFill>
                <a:latin typeface="Helvetica Neue"/>
                <a:ea typeface="Helvetica Neue"/>
                <a:cs typeface="Helvetica Neue"/>
              </a:defRPr>
            </a:pPr>
            <a:r>
              <a:rPr sz="4950" b="1">
                <a:solidFill>
                  <a:srgbClr val="FF9A62"/>
                </a:solidFill>
                <a:latin typeface="Helvetica Neue"/>
                <a:ea typeface="Helvetica Neue"/>
                <a:cs typeface="Helvetica Neue"/>
              </a:rPr>
              <a:t>@</a:t>
            </a:r>
          </a:p>
        </p:txBody>
      </p:sp>
      <p:sp>
        <p:nvSpPr>
          <p:cNvPr id="8" name="">
            <a:extLst xmlns:a="http://schemas.openxmlformats.org/drawingml/2006/main">
              <a:ext uri="{FF2B5EF4-FFF2-40B4-BE49-F238E27FC236}">
                <a16:creationId xmlns:a16="http://schemas.microsoft.com/office/drawing/2014/main" id="{804138FD-EFB0-4453-982D-477010A4E4E7}"/>
              </a:ext>
            </a:extLst>
          </p:cNvPr>
          <p:cNvSpPr>
            <a:spLocks xmlns:a="http://schemas.openxmlformats.org/drawingml/2006/main" noGrp="1"/>
          </p:cNvSpPr>
          <p:nvPr/>
        </p:nvSpPr>
        <p:spPr>
          <a:xfrm xmlns:a="http://schemas.openxmlformats.org/drawingml/2006/main">
            <a:off x="3667125" y="2762250"/>
            <a:ext cx="1238250" cy="809625"/>
          </a:xfrm>
          <a:prstGeom xmlns:a="http://schemas.openxmlformats.org/drawingml/2006/main" prst="rect">
            <a:avLst/>
          </a:prstGeom>
          <a:solidFill xmlns:a="http://schemas.openxmlformats.org/drawingml/2006/main">
            <a:srgbClr val="252828"/>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EDECA4D7-5A0D-4003-A0B4-77FE87A1D29F}"/>
              </a:ext>
            </a:extLst>
          </p:cNvPr>
          <p:cNvSpPr>
            <a:spLocks xmlns:a="http://schemas.openxmlformats.org/drawingml/2006/main" noGrp="1"/>
          </p:cNvSpPr>
          <p:nvPr/>
        </p:nvSpPr>
        <p:spPr>
          <a:xfrm xmlns:a="http://schemas.openxmlformats.org/drawingml/2006/main">
            <a:off x="3781425" y="2809875"/>
            <a:ext cx="10287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200" b="1">
                <a:solidFill>
                  <a:srgbClr val="FF9A62"/>
                </a:solidFill>
                <a:latin typeface="Helvetica Neue"/>
                <a:ea typeface="Helvetica Neue"/>
                <a:cs typeface="Helvetica Neue"/>
              </a:defRPr>
            </a:pPr>
            <a:r>
              <a:rPr sz="4200" b="1">
                <a:solidFill>
                  <a:srgbClr val="FF9A62"/>
                </a:solidFill>
                <a:latin typeface="Helvetica Neue"/>
                <a:ea typeface="Helvetica Neue"/>
                <a:cs typeface="Helvetica Neue"/>
              </a:rPr>
              <a:t>31</a:t>
            </a:r>
          </a:p>
        </p:txBody>
      </p:sp>
      <p:sp>
        <p:nvSpPr>
          <p:cNvPr id="10" name="">
            <a:extLst xmlns:a="http://schemas.openxmlformats.org/drawingml/2006/main">
              <a:ext uri="{FF2B5EF4-FFF2-40B4-BE49-F238E27FC236}">
                <a16:creationId xmlns:a16="http://schemas.microsoft.com/office/drawing/2014/main" id="{11DC18A9-8FED-4B5A-B198-777241A360D8}"/>
              </a:ext>
            </a:extLst>
          </p:cNvPr>
          <p:cNvSpPr>
            <a:spLocks xmlns:a="http://schemas.openxmlformats.org/drawingml/2006/main" noGrp="1"/>
          </p:cNvSpPr>
          <p:nvPr/>
        </p:nvSpPr>
        <p:spPr>
          <a:xfrm xmlns:a="http://schemas.openxmlformats.org/drawingml/2006/main">
            <a:off x="6572250" y="2762250"/>
            <a:ext cx="1238250" cy="809625"/>
          </a:xfrm>
          <a:prstGeom xmlns:a="http://schemas.openxmlformats.org/drawingml/2006/main" prst="rect">
            <a:avLst/>
          </a:prstGeom>
          <a:solidFill xmlns:a="http://schemas.openxmlformats.org/drawingml/2006/main">
            <a:srgbClr val="252828"/>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A6F0E995-A3FE-4081-AF55-DA288E32DB73}"/>
              </a:ext>
            </a:extLst>
          </p:cNvPr>
          <p:cNvSpPr>
            <a:spLocks xmlns:a="http://schemas.openxmlformats.org/drawingml/2006/main" noGrp="1"/>
          </p:cNvSpPr>
          <p:nvPr/>
        </p:nvSpPr>
        <p:spPr>
          <a:xfrm xmlns:a="http://schemas.openxmlformats.org/drawingml/2006/main">
            <a:off x="6838950" y="2714625"/>
            <a:ext cx="857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250" b="0">
                <a:solidFill>
                  <a:srgbClr val="FF9A62"/>
                </a:solidFill>
                <a:latin typeface="Helvetica Neue"/>
                <a:ea typeface="Helvetica Neue"/>
                <a:cs typeface="Helvetica Neue"/>
              </a:defRPr>
            </a:pPr>
            <a:r>
              <a:rPr sz="5250" b="0">
                <a:solidFill>
                  <a:srgbClr val="FF9A62"/>
                </a:solidFill>
                <a:latin typeface="Helvetica Neue"/>
                <a:ea typeface="Helvetica Neue"/>
                <a:cs typeface="Helvetica Neue"/>
              </a:rPr>
              <a:t>▧</a:t>
            </a:r>
          </a:p>
        </p:txBody>
      </p:sp>
      <p:sp>
        <p:nvSpPr>
          <p:cNvPr id="12" name="">
            <a:extLst xmlns:a="http://schemas.openxmlformats.org/drawingml/2006/main">
              <a:ext uri="{FF2B5EF4-FFF2-40B4-BE49-F238E27FC236}">
                <a16:creationId xmlns:a16="http://schemas.microsoft.com/office/drawing/2014/main" id="{3503884A-BC87-4AA7-8B4F-AF836EC03542}"/>
              </a:ext>
            </a:extLst>
          </p:cNvPr>
          <p:cNvSpPr>
            <a:spLocks xmlns:a="http://schemas.openxmlformats.org/drawingml/2006/main" noGrp="1"/>
          </p:cNvSpPr>
          <p:nvPr/>
        </p:nvSpPr>
        <p:spPr>
          <a:xfrm xmlns:a="http://schemas.openxmlformats.org/drawingml/2006/main">
            <a:off x="9477375" y="2762250"/>
            <a:ext cx="1238250" cy="809625"/>
          </a:xfrm>
          <a:prstGeom xmlns:a="http://schemas.openxmlformats.org/drawingml/2006/main" prst="rect">
            <a:avLst/>
          </a:prstGeom>
          <a:solidFill xmlns:a="http://schemas.openxmlformats.org/drawingml/2006/main">
            <a:srgbClr val="252828"/>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D3E2F6E2-FA99-46D5-A70B-FFD980366F03}"/>
              </a:ext>
            </a:extLst>
          </p:cNvPr>
          <p:cNvSpPr>
            <a:spLocks xmlns:a="http://schemas.openxmlformats.org/drawingml/2006/main" noGrp="1"/>
          </p:cNvSpPr>
          <p:nvPr/>
        </p:nvSpPr>
        <p:spPr>
          <a:xfrm xmlns:a="http://schemas.openxmlformats.org/drawingml/2006/main">
            <a:off x="9848850" y="2781300"/>
            <a:ext cx="7143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500" b="1">
                <a:solidFill>
                  <a:srgbClr val="FF9A62"/>
                </a:solidFill>
                <a:latin typeface="Helvetica Neue"/>
                <a:ea typeface="Helvetica Neue"/>
                <a:cs typeface="Helvetica Neue"/>
              </a:defRPr>
            </a:pPr>
            <a:r>
              <a:rPr sz="4500" b="1">
                <a:solidFill>
                  <a:srgbClr val="FF9A62"/>
                </a:solidFill>
                <a:latin typeface="Helvetica Neue"/>
                <a:ea typeface="Helvetica Neue"/>
                <a:cs typeface="Helvetica Neue"/>
              </a:rPr>
              <a:t>↑</a:t>
            </a:r>
          </a:p>
        </p:txBody>
      </p:sp>
      <p:sp>
        <p:nvSpPr>
          <p:cNvPr id="14" name="">
            <a:extLst xmlns:a="http://schemas.openxmlformats.org/drawingml/2006/main">
              <a:ext uri="{FF2B5EF4-FFF2-40B4-BE49-F238E27FC236}">
                <a16:creationId xmlns:a16="http://schemas.microsoft.com/office/drawing/2014/main" id="{106D94BA-10AC-43FE-AA7C-3BA48C2D08CB}"/>
              </a:ext>
            </a:extLst>
          </p:cNvPr>
          <p:cNvSpPr>
            <a:spLocks xmlns:a="http://schemas.openxmlformats.org/drawingml/2006/main" noGrp="1"/>
          </p:cNvSpPr>
          <p:nvPr/>
        </p:nvSpPr>
        <p:spPr>
          <a:xfrm xmlns:a="http://schemas.openxmlformats.org/drawingml/2006/main">
            <a:off x="762000" y="3962400"/>
            <a:ext cx="24765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2EFE9"/>
                </a:solidFill>
                <a:latin typeface="Helvetica Neue"/>
                <a:ea typeface="Helvetica Neue"/>
                <a:cs typeface="Helvetica Neue"/>
              </a:defRPr>
            </a:pPr>
            <a:r>
              <a:rPr sz="3150" b="1">
                <a:solidFill>
                  <a:srgbClr val="F2EFE9"/>
                </a:solidFill>
                <a:latin typeface="Helvetica Neue"/>
                <a:ea typeface="Helvetica Neue"/>
                <a:cs typeface="Helvetica Neue"/>
              </a:rPr>
              <a:t>Emails</a:t>
            </a:r>
          </a:p>
          <a:p xmlns:a="http://schemas.openxmlformats.org/drawingml/2006/main">
            <a:pPr>
              <a:defRPr sz="3150" b="1">
                <a:solidFill>
                  <a:srgbClr val="F2EFE9"/>
                </a:solidFill>
                <a:latin typeface="Helvetica Neue"/>
                <a:ea typeface="Helvetica Neue"/>
                <a:cs typeface="Helvetica Neue"/>
              </a:defRPr>
            </a:pPr>
            <a:r>
              <a:rPr sz="3150" b="1">
                <a:solidFill>
                  <a:srgbClr val="F2EFE9"/>
                </a:solidFill>
                <a:latin typeface="Helvetica Neue"/>
                <a:ea typeface="Helvetica Neue"/>
                <a:cs typeface="Helvetica Neue"/>
              </a:rPr>
              <a:t>you</a:t>
            </a:r>
          </a:p>
        </p:txBody>
      </p:sp>
      <p:sp>
        <p:nvSpPr>
          <p:cNvPr id="15" name="">
            <a:extLst xmlns:a="http://schemas.openxmlformats.org/drawingml/2006/main">
              <a:ext uri="{FF2B5EF4-FFF2-40B4-BE49-F238E27FC236}">
                <a16:creationId xmlns:a16="http://schemas.microsoft.com/office/drawing/2014/main" id="{9FCF603A-862D-4DCC-9A85-0133B926EADE}"/>
              </a:ext>
            </a:extLst>
          </p:cNvPr>
          <p:cNvSpPr>
            <a:spLocks xmlns:a="http://schemas.openxmlformats.org/drawingml/2006/main" noGrp="1"/>
          </p:cNvSpPr>
          <p:nvPr/>
        </p:nvSpPr>
        <p:spPr>
          <a:xfrm xmlns:a="http://schemas.openxmlformats.org/drawingml/2006/main">
            <a:off x="3667125" y="3962400"/>
            <a:ext cx="24765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2EFE9"/>
                </a:solidFill>
                <a:latin typeface="Helvetica Neue"/>
                <a:ea typeface="Helvetica Neue"/>
                <a:cs typeface="Helvetica Neue"/>
              </a:defRPr>
            </a:pPr>
            <a:r>
              <a:rPr sz="3150" b="1">
                <a:solidFill>
                  <a:srgbClr val="F2EFE9"/>
                </a:solidFill>
                <a:latin typeface="Helvetica Neue"/>
                <a:ea typeface="Helvetica Neue"/>
                <a:cs typeface="Helvetica Neue"/>
              </a:rPr>
              <a:t>Hijacks</a:t>
            </a:r>
          </a:p>
          <a:p xmlns:a="http://schemas.openxmlformats.org/drawingml/2006/main">
            <a:pPr>
              <a:defRPr sz="3150" b="1">
                <a:solidFill>
                  <a:srgbClr val="F2EFE9"/>
                </a:solidFill>
                <a:latin typeface="Helvetica Neue"/>
                <a:ea typeface="Helvetica Neue"/>
                <a:cs typeface="Helvetica Neue"/>
              </a:defRPr>
            </a:pPr>
            <a:r>
              <a:rPr sz="3150" b="1">
                <a:solidFill>
                  <a:srgbClr val="F2EFE9"/>
                </a:solidFill>
                <a:latin typeface="Helvetica Neue"/>
                <a:ea typeface="Helvetica Neue"/>
                <a:cs typeface="Helvetica Neue"/>
              </a:rPr>
              <a:t>calendar</a:t>
            </a:r>
          </a:p>
        </p:txBody>
      </p:sp>
      <p:sp>
        <p:nvSpPr>
          <p:cNvPr id="16" name="">
            <a:extLst xmlns:a="http://schemas.openxmlformats.org/drawingml/2006/main">
              <a:ext uri="{FF2B5EF4-FFF2-40B4-BE49-F238E27FC236}">
                <a16:creationId xmlns:a16="http://schemas.microsoft.com/office/drawing/2014/main" id="{331B291B-9B8E-432E-AF97-19E4823D76E2}"/>
              </a:ext>
            </a:extLst>
          </p:cNvPr>
          <p:cNvSpPr>
            <a:spLocks xmlns:a="http://schemas.openxmlformats.org/drawingml/2006/main" noGrp="1"/>
          </p:cNvSpPr>
          <p:nvPr/>
        </p:nvSpPr>
        <p:spPr>
          <a:xfrm xmlns:a="http://schemas.openxmlformats.org/drawingml/2006/main">
            <a:off x="6572250" y="3962400"/>
            <a:ext cx="24765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2EFE9"/>
                </a:solidFill>
                <a:latin typeface="Helvetica Neue"/>
                <a:ea typeface="Helvetica Neue"/>
                <a:cs typeface="Helvetica Neue"/>
              </a:defRPr>
            </a:pPr>
            <a:r>
              <a:rPr sz="3150" b="1">
                <a:solidFill>
                  <a:srgbClr val="F2EFE9"/>
                </a:solidFill>
                <a:latin typeface="Helvetica Neue"/>
                <a:ea typeface="Helvetica Neue"/>
                <a:cs typeface="Helvetica Neue"/>
              </a:rPr>
              <a:t>Holds your</a:t>
            </a:r>
          </a:p>
          <a:p xmlns:a="http://schemas.openxmlformats.org/drawingml/2006/main">
            <a:pPr>
              <a:defRPr sz="3150" b="1">
                <a:solidFill>
                  <a:srgbClr val="F2EFE9"/>
                </a:solidFill>
                <a:latin typeface="Helvetica Neue"/>
                <a:ea typeface="Helvetica Neue"/>
                <a:cs typeface="Helvetica Neue"/>
              </a:defRPr>
            </a:pPr>
            <a:r>
              <a:rPr sz="3150" b="1">
                <a:solidFill>
                  <a:srgbClr val="F2EFE9"/>
                </a:solidFill>
                <a:latin typeface="Helvetica Neue"/>
                <a:ea typeface="Helvetica Neue"/>
                <a:cs typeface="Helvetica Neue"/>
              </a:rPr>
              <a:t>worst photos</a:t>
            </a:r>
          </a:p>
        </p:txBody>
      </p:sp>
      <p:sp>
        <p:nvSpPr>
          <p:cNvPr id="17" name="">
            <a:extLst xmlns:a="http://schemas.openxmlformats.org/drawingml/2006/main">
              <a:ext uri="{FF2B5EF4-FFF2-40B4-BE49-F238E27FC236}">
                <a16:creationId xmlns:a16="http://schemas.microsoft.com/office/drawing/2014/main" id="{438953AF-FDCC-4A62-BC88-AAE0EF4FA9DB}"/>
              </a:ext>
            </a:extLst>
          </p:cNvPr>
          <p:cNvSpPr>
            <a:spLocks xmlns:a="http://schemas.openxmlformats.org/drawingml/2006/main" noGrp="1"/>
          </p:cNvSpPr>
          <p:nvPr/>
        </p:nvSpPr>
        <p:spPr>
          <a:xfrm xmlns:a="http://schemas.openxmlformats.org/drawingml/2006/main">
            <a:off x="9477375" y="3962400"/>
            <a:ext cx="24765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2EFE9"/>
                </a:solidFill>
                <a:latin typeface="Helvetica Neue"/>
                <a:ea typeface="Helvetica Neue"/>
                <a:cs typeface="Helvetica Neue"/>
              </a:defRPr>
            </a:pPr>
            <a:r>
              <a:rPr sz="3150" b="1">
                <a:solidFill>
                  <a:srgbClr val="F2EFE9"/>
                </a:solidFill>
                <a:latin typeface="Helvetica Neue"/>
                <a:ea typeface="Helvetica Neue"/>
                <a:cs typeface="Helvetica Neue"/>
              </a:rPr>
              <a:t>Prepares</a:t>
            </a:r>
          </a:p>
          <a:p xmlns:a="http://schemas.openxmlformats.org/drawingml/2006/main">
            <a:pPr>
              <a:defRPr sz="3150" b="1">
                <a:solidFill>
                  <a:srgbClr val="F2EFE9"/>
                </a:solidFill>
                <a:latin typeface="Helvetica Neue"/>
                <a:ea typeface="Helvetica Neue"/>
                <a:cs typeface="Helvetica Neue"/>
              </a:defRPr>
            </a:pPr>
            <a:r>
              <a:rPr sz="3150" b="1">
                <a:solidFill>
                  <a:srgbClr val="F2EFE9"/>
                </a:solidFill>
                <a:latin typeface="Helvetica Neue"/>
                <a:ea typeface="Helvetica Neue"/>
                <a:cs typeface="Helvetica Neue"/>
              </a:rPr>
              <a:t>your post</a:t>
            </a:r>
          </a:p>
        </p:txBody>
      </p:sp>
      <p:sp>
        <p:nvSpPr>
          <p:cNvPr id="18" name="">
            <a:extLst xmlns:a="http://schemas.openxmlformats.org/drawingml/2006/main">
              <a:ext uri="{FF2B5EF4-FFF2-40B4-BE49-F238E27FC236}">
                <a16:creationId xmlns:a16="http://schemas.microsoft.com/office/drawing/2014/main" id="{23A917FF-ED34-447F-8865-2D3957EBAB5B}"/>
              </a:ext>
            </a:extLst>
          </p:cNvPr>
          <p:cNvSpPr>
            <a:spLocks xmlns:a="http://schemas.openxmlformats.org/drawingml/2006/main" noGrp="1"/>
          </p:cNvSpPr>
          <p:nvPr/>
        </p:nvSpPr>
        <p:spPr>
          <a:xfrm xmlns:a="http://schemas.openxmlformats.org/drawingml/2006/main">
            <a:off x="685800" y="5810250"/>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0">
                <a:solidFill>
                  <a:srgbClr val="FF9A62"/>
                </a:solidFill>
                <a:latin typeface="Helvetica Neue"/>
                <a:ea typeface="Helvetica Neue"/>
                <a:cs typeface="Helvetica Neue"/>
              </a:defRPr>
            </a:pPr>
            <a:r>
              <a:rPr sz="3000" b="0">
                <a:solidFill>
                  <a:srgbClr val="FF9A62"/>
                </a:solidFill>
                <a:latin typeface="Helvetica Neue"/>
                <a:ea typeface="Helvetica Neue"/>
                <a:cs typeface="Helvetica Neue"/>
              </a:rPr>
              <a:t>You control the final Share.</a:t>
            </a:r>
          </a:p>
        </p:txBody>
      </p:sp>
    </p:spTree>
    <p:extLst>
      <p:ext uri="{BB962C8B-B14F-4D97-AF65-F5344CB8AC3E}">
        <p14:creationId xmlns:p14="http://schemas.microsoft.com/office/powerpoint/2010/main" val="1967784820"/>
      </p:ext>
    </p:extLst>
  </p:cSld>
</p:sld>
</file>

<file path=ppt/slides/slide4.xml><?xml version="1.0" encoding="utf-8"?>
<p:sld xmlns:p="http://schemas.openxmlformats.org/presentationml/2006/main">
  <p:cSld>
    <p:bg>
      <p:bgPr>
        <a:solidFill xmlns:a="http://schemas.openxmlformats.org/drawingml/2006/main">
          <a:srgbClr val="101111"/>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25F074B8-EF5D-4D24-9FD3-FE3C0AE8135C}"/>
              </a:ext>
            </a:extLst>
          </p:cNvPr>
          <p:cNvSpPr>
            <a:spLocks xmlns:a="http://schemas.openxmlformats.org/drawingml/2006/main" noGrp="1"/>
          </p:cNvSpPr>
          <p:nvPr/>
        </p:nvSpPr>
        <p:spPr>
          <a:xfrm xmlns:a="http://schemas.openxmlformats.org/drawingml/2006/main">
            <a:off x="685800" y="666750"/>
            <a:ext cx="10763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800" b="1">
                <a:solidFill>
                  <a:srgbClr val="F2EFE9"/>
                </a:solidFill>
                <a:latin typeface="Helvetica Neue"/>
                <a:ea typeface="Helvetica Neue"/>
                <a:cs typeface="Helvetica Neue"/>
              </a:defRPr>
            </a:pPr>
            <a:r>
              <a:rPr sz="4800" b="1">
                <a:solidFill>
                  <a:srgbClr val="F2EFE9"/>
                </a:solidFill>
                <a:latin typeface="Helvetica Neue"/>
                <a:ea typeface="Helvetica Neue"/>
                <a:cs typeface="Helvetica Neue"/>
              </a:rPr>
              <a:t>The deadline gets closer.</a:t>
            </a:r>
          </a:p>
        </p:txBody>
      </p:sp>
      <p:sp>
        <p:nvSpPr>
          <p:cNvPr id="2" name="">
            <a:extLst xmlns:a="http://schemas.openxmlformats.org/drawingml/2006/main">
              <a:ext uri="{FF2B5EF4-FFF2-40B4-BE49-F238E27FC236}">
                <a16:creationId xmlns:a16="http://schemas.microsoft.com/office/drawing/2014/main" id="{F799A814-FAAF-44CF-A626-3D10FAE498F8}"/>
              </a:ext>
            </a:extLst>
          </p:cNvPr>
          <p:cNvSpPr>
            <a:spLocks xmlns:a="http://schemas.openxmlformats.org/drawingml/2006/main" noGrp="1"/>
          </p:cNvSpPr>
          <p:nvPr/>
        </p:nvSpPr>
        <p:spPr>
          <a:xfrm xmlns:a="http://schemas.openxmlformats.org/drawingml/2006/main">
            <a:off x="685800" y="1619250"/>
            <a:ext cx="10763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800" b="1">
                <a:solidFill>
                  <a:srgbClr val="FF9A62"/>
                </a:solidFill>
                <a:latin typeface="Helvetica Neue"/>
                <a:ea typeface="Helvetica Neue"/>
                <a:cs typeface="Helvetica Neue"/>
              </a:defRPr>
            </a:pPr>
            <a:r>
              <a:rPr sz="4800" b="1">
                <a:solidFill>
                  <a:srgbClr val="FF9A62"/>
                </a:solidFill>
                <a:latin typeface="Helvetica Neue"/>
                <a:ea typeface="Helvetica Neue"/>
                <a:cs typeface="Helvetica Neue"/>
              </a:rPr>
              <a:t>The pressure gets louder.</a:t>
            </a:r>
          </a:p>
        </p:txBody>
      </p:sp>
      <p:sp>
        <p:nvSpPr>
          <p:cNvPr id="3" name="">
            <a:extLst xmlns:a="http://schemas.openxmlformats.org/drawingml/2006/main">
              <a:ext uri="{FF2B5EF4-FFF2-40B4-BE49-F238E27FC236}">
                <a16:creationId xmlns:a16="http://schemas.microsoft.com/office/drawing/2014/main" id="{0DB807B7-FE3E-4DBE-88AD-8061AD1DECE1}"/>
              </a:ext>
            </a:extLst>
          </p:cNvPr>
          <p:cNvSpPr>
            <a:spLocks xmlns:a="http://schemas.openxmlformats.org/drawingml/2006/main" noGrp="1"/>
          </p:cNvSpPr>
          <p:nvPr/>
        </p:nvSpPr>
        <p:spPr>
          <a:xfrm xmlns:a="http://schemas.openxmlformats.org/drawingml/2006/main">
            <a:off x="685800" y="3457575"/>
            <a:ext cx="2038350" cy="66675"/>
          </a:xfrm>
          <a:prstGeom xmlns:a="http://schemas.openxmlformats.org/drawingml/2006/main" prst="rect">
            <a:avLst/>
          </a:prstGeom>
          <a:solidFill xmlns:a="http://schemas.openxmlformats.org/drawingml/2006/main">
            <a:srgbClr val="626561"/>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984047A1-D421-4090-94B7-63D97BDA00FC}"/>
              </a:ext>
            </a:extLst>
          </p:cNvPr>
          <p:cNvSpPr>
            <a:spLocks xmlns:a="http://schemas.openxmlformats.org/drawingml/2006/main" noGrp="1"/>
          </p:cNvSpPr>
          <p:nvPr/>
        </p:nvSpPr>
        <p:spPr>
          <a:xfrm xmlns:a="http://schemas.openxmlformats.org/drawingml/2006/main">
            <a:off x="685800" y="3829050"/>
            <a:ext cx="2143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F2EFE9"/>
                </a:solidFill>
                <a:latin typeface="Helvetica Neue"/>
                <a:ea typeface="Helvetica Neue"/>
                <a:cs typeface="Helvetica Neue"/>
              </a:defRPr>
            </a:pPr>
            <a:r>
              <a:rPr sz="3000" b="1">
                <a:solidFill>
                  <a:srgbClr val="F2EFE9"/>
                </a:solidFill>
                <a:latin typeface="Helvetica Neue"/>
                <a:ea typeface="Helvetica Neue"/>
                <a:cs typeface="Helvetica Neue"/>
              </a:rPr>
              <a:t>Calm</a:t>
            </a:r>
          </a:p>
        </p:txBody>
      </p:sp>
      <p:sp>
        <p:nvSpPr>
          <p:cNvPr id="5" name="">
            <a:extLst xmlns:a="http://schemas.openxmlformats.org/drawingml/2006/main">
              <a:ext uri="{FF2B5EF4-FFF2-40B4-BE49-F238E27FC236}">
                <a16:creationId xmlns:a16="http://schemas.microsoft.com/office/drawing/2014/main" id="{E107D347-5078-47DC-9B6E-8729DA063ED0}"/>
              </a:ext>
            </a:extLst>
          </p:cNvPr>
          <p:cNvSpPr>
            <a:spLocks xmlns:a="http://schemas.openxmlformats.org/drawingml/2006/main" noGrp="1"/>
          </p:cNvSpPr>
          <p:nvPr/>
        </p:nvSpPr>
        <p:spPr>
          <a:xfrm xmlns:a="http://schemas.openxmlformats.org/drawingml/2006/main">
            <a:off x="685800" y="4543425"/>
            <a:ext cx="2143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0">
                <a:solidFill>
                  <a:srgbClr val="A8AAA6"/>
                </a:solidFill>
                <a:latin typeface="Helvetica Neue"/>
                <a:ea typeface="Helvetica Neue"/>
                <a:cs typeface="Helvetica Neue"/>
              </a:defRPr>
            </a:pPr>
            <a:r>
              <a:rPr sz="3000" b="0">
                <a:solidFill>
                  <a:srgbClr val="A8AAA6"/>
                </a:solidFill>
                <a:latin typeface="Helvetica Neue"/>
                <a:ea typeface="Helvetica Neue"/>
                <a:cs typeface="Helvetica Neue"/>
              </a:rPr>
              <a:t>18 hours</a:t>
            </a:r>
          </a:p>
        </p:txBody>
      </p:sp>
      <p:sp>
        <p:nvSpPr>
          <p:cNvPr id="6" name="">
            <a:extLst xmlns:a="http://schemas.openxmlformats.org/drawingml/2006/main">
              <a:ext uri="{FF2B5EF4-FFF2-40B4-BE49-F238E27FC236}">
                <a16:creationId xmlns:a16="http://schemas.microsoft.com/office/drawing/2014/main" id="{C2383206-D736-4895-B06C-07EDE7210379}"/>
              </a:ext>
            </a:extLst>
          </p:cNvPr>
          <p:cNvSpPr>
            <a:spLocks xmlns:a="http://schemas.openxmlformats.org/drawingml/2006/main" noGrp="1"/>
          </p:cNvSpPr>
          <p:nvPr/>
        </p:nvSpPr>
        <p:spPr>
          <a:xfrm xmlns:a="http://schemas.openxmlformats.org/drawingml/2006/main">
            <a:off x="2895600" y="3457575"/>
            <a:ext cx="2038350" cy="66675"/>
          </a:xfrm>
          <a:prstGeom xmlns:a="http://schemas.openxmlformats.org/drawingml/2006/main" prst="rect">
            <a:avLst/>
          </a:prstGeom>
          <a:solidFill xmlns:a="http://schemas.openxmlformats.org/drawingml/2006/main">
            <a:srgbClr val="626561"/>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0B03B7E8-841E-4CA7-9C3E-4759BCB44897}"/>
              </a:ext>
            </a:extLst>
          </p:cNvPr>
          <p:cNvSpPr>
            <a:spLocks xmlns:a="http://schemas.openxmlformats.org/drawingml/2006/main" noGrp="1"/>
          </p:cNvSpPr>
          <p:nvPr/>
        </p:nvSpPr>
        <p:spPr>
          <a:xfrm xmlns:a="http://schemas.openxmlformats.org/drawingml/2006/main">
            <a:off x="2895600" y="3829050"/>
            <a:ext cx="2143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F2EFE9"/>
                </a:solidFill>
                <a:latin typeface="Helvetica Neue"/>
                <a:ea typeface="Helvetica Neue"/>
                <a:cs typeface="Helvetica Neue"/>
              </a:defRPr>
            </a:pPr>
            <a:r>
              <a:rPr sz="3000" b="1">
                <a:solidFill>
                  <a:srgbClr val="F2EFE9"/>
                </a:solidFill>
                <a:latin typeface="Helvetica Neue"/>
                <a:ea typeface="Helvetica Neue"/>
                <a:cs typeface="Helvetica Neue"/>
              </a:rPr>
              <a:t>Nudging</a:t>
            </a:r>
          </a:p>
        </p:txBody>
      </p:sp>
      <p:sp>
        <p:nvSpPr>
          <p:cNvPr id="8" name="">
            <a:extLst xmlns:a="http://schemas.openxmlformats.org/drawingml/2006/main">
              <a:ext uri="{FF2B5EF4-FFF2-40B4-BE49-F238E27FC236}">
                <a16:creationId xmlns:a16="http://schemas.microsoft.com/office/drawing/2014/main" id="{B0D95F1A-735A-4304-B5B7-0EC3267037A6}"/>
              </a:ext>
            </a:extLst>
          </p:cNvPr>
          <p:cNvSpPr>
            <a:spLocks xmlns:a="http://schemas.openxmlformats.org/drawingml/2006/main" noGrp="1"/>
          </p:cNvSpPr>
          <p:nvPr/>
        </p:nvSpPr>
        <p:spPr>
          <a:xfrm xmlns:a="http://schemas.openxmlformats.org/drawingml/2006/main">
            <a:off x="2895600" y="4543425"/>
            <a:ext cx="2143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0">
                <a:solidFill>
                  <a:srgbClr val="A8AAA6"/>
                </a:solidFill>
                <a:latin typeface="Helvetica Neue"/>
                <a:ea typeface="Helvetica Neue"/>
                <a:cs typeface="Helvetica Neue"/>
              </a:defRPr>
            </a:pPr>
            <a:r>
              <a:rPr sz="3000" b="0">
                <a:solidFill>
                  <a:srgbClr val="A8AAA6"/>
                </a:solidFill>
                <a:latin typeface="Helvetica Neue"/>
                <a:ea typeface="Helvetica Neue"/>
                <a:cs typeface="Helvetica Neue"/>
              </a:rPr>
              <a:t>12 hours</a:t>
            </a:r>
          </a:p>
        </p:txBody>
      </p:sp>
      <p:sp>
        <p:nvSpPr>
          <p:cNvPr id="9" name="">
            <a:extLst xmlns:a="http://schemas.openxmlformats.org/drawingml/2006/main">
              <a:ext uri="{FF2B5EF4-FFF2-40B4-BE49-F238E27FC236}">
                <a16:creationId xmlns:a16="http://schemas.microsoft.com/office/drawing/2014/main" id="{ED04BA4C-2F72-4B85-8FBF-89F80B43D886}"/>
              </a:ext>
            </a:extLst>
          </p:cNvPr>
          <p:cNvSpPr>
            <a:spLocks xmlns:a="http://schemas.openxmlformats.org/drawingml/2006/main" noGrp="1"/>
          </p:cNvSpPr>
          <p:nvPr/>
        </p:nvSpPr>
        <p:spPr>
          <a:xfrm xmlns:a="http://schemas.openxmlformats.org/drawingml/2006/main">
            <a:off x="5105400" y="3457575"/>
            <a:ext cx="2038350" cy="66675"/>
          </a:xfrm>
          <a:prstGeom xmlns:a="http://schemas.openxmlformats.org/drawingml/2006/main" prst="rect">
            <a:avLst/>
          </a:prstGeom>
          <a:solidFill xmlns:a="http://schemas.openxmlformats.org/drawingml/2006/main">
            <a:srgbClr val="626561"/>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E3DB0352-8B9B-4874-807D-9A1D01933520}"/>
              </a:ext>
            </a:extLst>
          </p:cNvPr>
          <p:cNvSpPr>
            <a:spLocks xmlns:a="http://schemas.openxmlformats.org/drawingml/2006/main" noGrp="1"/>
          </p:cNvSpPr>
          <p:nvPr/>
        </p:nvSpPr>
        <p:spPr>
          <a:xfrm xmlns:a="http://schemas.openxmlformats.org/drawingml/2006/main">
            <a:off x="5105400" y="3829050"/>
            <a:ext cx="2143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F2EFE9"/>
                </a:solidFill>
                <a:latin typeface="Helvetica Neue"/>
                <a:ea typeface="Helvetica Neue"/>
                <a:cs typeface="Helvetica Neue"/>
              </a:defRPr>
            </a:pPr>
            <a:r>
              <a:rPr sz="3000" b="1">
                <a:solidFill>
                  <a:srgbClr val="F2EFE9"/>
                </a:solidFill>
                <a:latin typeface="Helvetica Neue"/>
                <a:ea typeface="Helvetica Neue"/>
                <a:cs typeface="Helvetica Neue"/>
              </a:rPr>
              <a:t>Invasive</a:t>
            </a:r>
          </a:p>
        </p:txBody>
      </p:sp>
      <p:sp>
        <p:nvSpPr>
          <p:cNvPr id="11" name="">
            <a:extLst xmlns:a="http://schemas.openxmlformats.org/drawingml/2006/main">
              <a:ext uri="{FF2B5EF4-FFF2-40B4-BE49-F238E27FC236}">
                <a16:creationId xmlns:a16="http://schemas.microsoft.com/office/drawing/2014/main" id="{2837E494-DAE7-4E48-B2D1-8B96B5289548}"/>
              </a:ext>
            </a:extLst>
          </p:cNvPr>
          <p:cNvSpPr>
            <a:spLocks xmlns:a="http://schemas.openxmlformats.org/drawingml/2006/main" noGrp="1"/>
          </p:cNvSpPr>
          <p:nvPr/>
        </p:nvSpPr>
        <p:spPr>
          <a:xfrm xmlns:a="http://schemas.openxmlformats.org/drawingml/2006/main">
            <a:off x="5105400" y="4543425"/>
            <a:ext cx="2143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0">
                <a:solidFill>
                  <a:srgbClr val="A8AAA6"/>
                </a:solidFill>
                <a:latin typeface="Helvetica Neue"/>
                <a:ea typeface="Helvetica Neue"/>
                <a:cs typeface="Helvetica Neue"/>
              </a:defRPr>
            </a:pPr>
            <a:r>
              <a:rPr sz="3000" b="0">
                <a:solidFill>
                  <a:srgbClr val="A8AAA6"/>
                </a:solidFill>
                <a:latin typeface="Helvetica Neue"/>
                <a:ea typeface="Helvetica Neue"/>
                <a:cs typeface="Helvetica Neue"/>
              </a:rPr>
              <a:t>6 hours</a:t>
            </a:r>
          </a:p>
        </p:txBody>
      </p:sp>
      <p:sp>
        <p:nvSpPr>
          <p:cNvPr id="12" name="">
            <a:extLst xmlns:a="http://schemas.openxmlformats.org/drawingml/2006/main">
              <a:ext uri="{FF2B5EF4-FFF2-40B4-BE49-F238E27FC236}">
                <a16:creationId xmlns:a16="http://schemas.microsoft.com/office/drawing/2014/main" id="{DE7C7265-6D16-41F4-9D90-404BABDCBCA4}"/>
              </a:ext>
            </a:extLst>
          </p:cNvPr>
          <p:cNvSpPr>
            <a:spLocks xmlns:a="http://schemas.openxmlformats.org/drawingml/2006/main" noGrp="1"/>
          </p:cNvSpPr>
          <p:nvPr/>
        </p:nvSpPr>
        <p:spPr>
          <a:xfrm xmlns:a="http://schemas.openxmlformats.org/drawingml/2006/main">
            <a:off x="7315200" y="3457575"/>
            <a:ext cx="2038350" cy="66675"/>
          </a:xfrm>
          <a:prstGeom xmlns:a="http://schemas.openxmlformats.org/drawingml/2006/main" prst="rect">
            <a:avLst/>
          </a:prstGeom>
          <a:solidFill xmlns:a="http://schemas.openxmlformats.org/drawingml/2006/main">
            <a:srgbClr val="626561"/>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1970FEA3-DD5D-4186-8A6B-8E10A47DD644}"/>
              </a:ext>
            </a:extLst>
          </p:cNvPr>
          <p:cNvSpPr>
            <a:spLocks xmlns:a="http://schemas.openxmlformats.org/drawingml/2006/main" noGrp="1"/>
          </p:cNvSpPr>
          <p:nvPr/>
        </p:nvSpPr>
        <p:spPr>
          <a:xfrm xmlns:a="http://schemas.openxmlformats.org/drawingml/2006/main">
            <a:off x="7315200" y="3829050"/>
            <a:ext cx="2143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F2EFE9"/>
                </a:solidFill>
                <a:latin typeface="Helvetica Neue"/>
                <a:ea typeface="Helvetica Neue"/>
                <a:cs typeface="Helvetica Neue"/>
              </a:defRPr>
            </a:pPr>
            <a:r>
              <a:rPr sz="3000" b="1">
                <a:solidFill>
                  <a:srgbClr val="F2EFE9"/>
                </a:solidFill>
                <a:latin typeface="Helvetica Neue"/>
                <a:ea typeface="Helvetica Neue"/>
                <a:cs typeface="Helvetica Neue"/>
              </a:rPr>
              <a:t>Hostile</a:t>
            </a:r>
          </a:p>
        </p:txBody>
      </p:sp>
      <p:sp>
        <p:nvSpPr>
          <p:cNvPr id="14" name="">
            <a:extLst xmlns:a="http://schemas.openxmlformats.org/drawingml/2006/main">
              <a:ext uri="{FF2B5EF4-FFF2-40B4-BE49-F238E27FC236}">
                <a16:creationId xmlns:a16="http://schemas.microsoft.com/office/drawing/2014/main" id="{0D38505F-4F4A-46A7-A86C-D7484BD35410}"/>
              </a:ext>
            </a:extLst>
          </p:cNvPr>
          <p:cNvSpPr>
            <a:spLocks xmlns:a="http://schemas.openxmlformats.org/drawingml/2006/main" noGrp="1"/>
          </p:cNvSpPr>
          <p:nvPr/>
        </p:nvSpPr>
        <p:spPr>
          <a:xfrm xmlns:a="http://schemas.openxmlformats.org/drawingml/2006/main">
            <a:off x="7315200" y="4543425"/>
            <a:ext cx="2143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0">
                <a:solidFill>
                  <a:srgbClr val="A8AAA6"/>
                </a:solidFill>
                <a:latin typeface="Helvetica Neue"/>
                <a:ea typeface="Helvetica Neue"/>
                <a:cs typeface="Helvetica Neue"/>
              </a:defRPr>
            </a:pPr>
            <a:r>
              <a:rPr sz="3000" b="0">
                <a:solidFill>
                  <a:srgbClr val="A8AAA6"/>
                </a:solidFill>
                <a:latin typeface="Helvetica Neue"/>
                <a:ea typeface="Helvetica Neue"/>
                <a:cs typeface="Helvetica Neue"/>
              </a:rPr>
              <a:t>2 hours</a:t>
            </a:r>
          </a:p>
        </p:txBody>
      </p:sp>
      <p:sp>
        <p:nvSpPr>
          <p:cNvPr id="15" name="">
            <a:extLst xmlns:a="http://schemas.openxmlformats.org/drawingml/2006/main">
              <a:ext uri="{FF2B5EF4-FFF2-40B4-BE49-F238E27FC236}">
                <a16:creationId xmlns:a16="http://schemas.microsoft.com/office/drawing/2014/main" id="{4ACE1A91-DE7A-4ED2-ABB5-476F39ABD9EE}"/>
              </a:ext>
            </a:extLst>
          </p:cNvPr>
          <p:cNvSpPr>
            <a:spLocks xmlns:a="http://schemas.openxmlformats.org/drawingml/2006/main" noGrp="1"/>
          </p:cNvSpPr>
          <p:nvPr/>
        </p:nvSpPr>
        <p:spPr>
          <a:xfrm xmlns:a="http://schemas.openxmlformats.org/drawingml/2006/main">
            <a:off x="9525000" y="3457575"/>
            <a:ext cx="2038350" cy="66675"/>
          </a:xfrm>
          <a:prstGeom xmlns:a="http://schemas.openxmlformats.org/drawingml/2006/main" prst="rect">
            <a:avLst/>
          </a:prstGeom>
          <a:solidFill xmlns:a="http://schemas.openxmlformats.org/drawingml/2006/main">
            <a:srgbClr val="FF9A62"/>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F94A6EBE-C39E-4F4E-B289-E12939BE58CD}"/>
              </a:ext>
            </a:extLst>
          </p:cNvPr>
          <p:cNvSpPr>
            <a:spLocks xmlns:a="http://schemas.openxmlformats.org/drawingml/2006/main" noGrp="1"/>
          </p:cNvSpPr>
          <p:nvPr/>
        </p:nvSpPr>
        <p:spPr>
          <a:xfrm xmlns:a="http://schemas.openxmlformats.org/drawingml/2006/main">
            <a:off x="9525000" y="3829050"/>
            <a:ext cx="2143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F2EFE9"/>
                </a:solidFill>
                <a:latin typeface="Helvetica Neue"/>
                <a:ea typeface="Helvetica Neue"/>
                <a:cs typeface="Helvetica Neue"/>
              </a:defRPr>
            </a:pPr>
            <a:r>
              <a:rPr sz="3000" b="1">
                <a:solidFill>
                  <a:srgbClr val="F2EFE9"/>
                </a:solidFill>
                <a:latin typeface="Helvetica Neue"/>
                <a:ea typeface="Helvetica Neue"/>
                <a:cs typeface="Helvetica Neue"/>
              </a:rPr>
              <a:t>Armed</a:t>
            </a:r>
          </a:p>
        </p:txBody>
      </p:sp>
      <p:sp>
        <p:nvSpPr>
          <p:cNvPr id="17" name="">
            <a:extLst xmlns:a="http://schemas.openxmlformats.org/drawingml/2006/main">
              <a:ext uri="{FF2B5EF4-FFF2-40B4-BE49-F238E27FC236}">
                <a16:creationId xmlns:a16="http://schemas.microsoft.com/office/drawing/2014/main" id="{A5802F2E-7195-4319-A30C-B2A84FBE5373}"/>
              </a:ext>
            </a:extLst>
          </p:cNvPr>
          <p:cNvSpPr>
            <a:spLocks xmlns:a="http://schemas.openxmlformats.org/drawingml/2006/main" noGrp="1"/>
          </p:cNvSpPr>
          <p:nvPr/>
        </p:nvSpPr>
        <p:spPr>
          <a:xfrm xmlns:a="http://schemas.openxmlformats.org/drawingml/2006/main">
            <a:off x="9525000" y="4543425"/>
            <a:ext cx="2143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0">
                <a:solidFill>
                  <a:srgbClr val="A8AAA6"/>
                </a:solidFill>
                <a:latin typeface="Helvetica Neue"/>
                <a:ea typeface="Helvetica Neue"/>
                <a:cs typeface="Helvetica Neue"/>
              </a:defRPr>
            </a:pPr>
            <a:r>
              <a:rPr sz="3000" b="0">
                <a:solidFill>
                  <a:srgbClr val="A8AAA6"/>
                </a:solidFill>
                <a:latin typeface="Helvetica Neue"/>
                <a:ea typeface="Helvetica Neue"/>
                <a:cs typeface="Helvetica Neue"/>
              </a:rPr>
              <a:t>15 min</a:t>
            </a:r>
          </a:p>
        </p:txBody>
      </p:sp>
      <p:sp>
        <p:nvSpPr>
          <p:cNvPr id="18" name="">
            <a:extLst xmlns:a="http://schemas.openxmlformats.org/drawingml/2006/main">
              <a:ext uri="{FF2B5EF4-FFF2-40B4-BE49-F238E27FC236}">
                <a16:creationId xmlns:a16="http://schemas.microsoft.com/office/drawing/2014/main" id="{C31941FD-60B7-421A-B0EC-190FA992A1FC}"/>
              </a:ext>
            </a:extLst>
          </p:cNvPr>
          <p:cNvSpPr>
            <a:spLocks xmlns:a="http://schemas.openxmlformats.org/drawingml/2006/main" noGrp="1"/>
          </p:cNvSpPr>
          <p:nvPr/>
        </p:nvSpPr>
        <p:spPr>
          <a:xfrm xmlns:a="http://schemas.openxmlformats.org/drawingml/2006/main">
            <a:off x="685800" y="5810250"/>
            <a:ext cx="1076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0">
                <a:solidFill>
                  <a:srgbClr val="FF9A62"/>
                </a:solidFill>
                <a:latin typeface="Helvetica Neue"/>
                <a:ea typeface="Helvetica Neue"/>
                <a:cs typeface="Helvetica Neue"/>
              </a:defRPr>
            </a:pPr>
            <a:r>
              <a:rPr sz="3000" b="0">
                <a:solidFill>
                  <a:srgbClr val="FF9A62"/>
                </a:solidFill>
                <a:latin typeface="Helvetica Neue"/>
                <a:ea typeface="Helvetica Neue"/>
                <a:cs typeface="Helvetica Neue"/>
              </a:rPr>
              <a:t>Mark done. It stands down.</a:t>
            </a:r>
          </a:p>
        </p:txBody>
      </p:sp>
    </p:spTree>
    <p:extLst>
      <p:ext uri="{BB962C8B-B14F-4D97-AF65-F5344CB8AC3E}">
        <p14:creationId xmlns:p14="http://schemas.microsoft.com/office/powerpoint/2010/main" val="2053255852"/>
      </p:ext>
    </p:extLst>
  </p:cSld>
</p:sld>
</file>

<file path=ppt/slides/slide5.xml><?xml version="1.0" encoding="utf-8"?>
<p:sld xmlns:p="http://schemas.openxmlformats.org/presentationml/2006/main">
  <p:cSld>
    <p:bg>
      <p:bgPr>
        <a:solidFill xmlns:a="http://schemas.openxmlformats.org/drawingml/2006/main">
          <a:srgbClr val="101111"/>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4EFEEF4E-E0EF-4719-B1CD-5E605DCBFE33}"/>
              </a:ext>
            </a:extLst>
          </p:cNvPr>
          <p:cNvSpPr>
            <a:spLocks xmlns:a="http://schemas.openxmlformats.org/drawingml/2006/main" noGrp="1"/>
          </p:cNvSpPr>
          <p:nvPr/>
        </p:nvSpPr>
        <p:spPr>
          <a:xfrm xmlns:a="http://schemas.openxmlformats.org/drawingml/2006/main">
            <a:off x="685800" y="523875"/>
            <a:ext cx="10763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500" b="1">
                <a:solidFill>
                  <a:srgbClr val="F2EFE9"/>
                </a:solidFill>
                <a:latin typeface="Helvetica Neue"/>
                <a:ea typeface="Helvetica Neue"/>
                <a:cs typeface="Helvetica Neue"/>
              </a:defRPr>
            </a:pPr>
            <a:r>
              <a:rPr sz="4500" b="1">
                <a:solidFill>
                  <a:srgbClr val="F2EFE9"/>
                </a:solidFill>
                <a:latin typeface="Helvetica Neue"/>
                <a:ea typeface="Helvetica Neue"/>
                <a:cs typeface="Helvetica Neue"/>
              </a:rPr>
              <a:t>One agent. Its own computer.</a:t>
            </a:r>
          </a:p>
        </p:txBody>
      </p:sp>
      <p:sp>
        <p:nvSpPr>
          <p:cNvPr id="2" name="">
            <a:extLst xmlns:a="http://schemas.openxmlformats.org/drawingml/2006/main">
              <a:ext uri="{FF2B5EF4-FFF2-40B4-BE49-F238E27FC236}">
                <a16:creationId xmlns:a16="http://schemas.microsoft.com/office/drawing/2014/main" id="{05BF803A-8719-46BD-A9FF-7088F9747A19}"/>
              </a:ext>
            </a:extLst>
          </p:cNvPr>
          <p:cNvSpPr>
            <a:spLocks xmlns:a="http://schemas.openxmlformats.org/drawingml/2006/main" noGrp="1"/>
          </p:cNvSpPr>
          <p:nvPr/>
        </p:nvSpPr>
        <p:spPr>
          <a:xfrm xmlns:a="http://schemas.openxmlformats.org/drawingml/2006/main">
            <a:off x="571500" y="2143125"/>
            <a:ext cx="3143250" cy="2095500"/>
          </a:xfrm>
          <a:prstGeom xmlns:a="http://schemas.openxmlformats.org/drawingml/2006/main" prst="rect">
            <a:avLst/>
          </a:prstGeom>
          <a:solidFill xmlns:a="http://schemas.openxmlformats.org/drawingml/2006/main">
            <a:srgbClr val="252828"/>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ED59DFC-A0B5-4B57-B189-52AB6AA381E1}"/>
              </a:ext>
            </a:extLst>
          </p:cNvPr>
          <p:cNvSpPr>
            <a:spLocks xmlns:a="http://schemas.openxmlformats.org/drawingml/2006/main" noGrp="1"/>
          </p:cNvSpPr>
          <p:nvPr/>
        </p:nvSpPr>
        <p:spPr>
          <a:xfrm xmlns:a="http://schemas.openxmlformats.org/drawingml/2006/main">
            <a:off x="762000" y="2333625"/>
            <a:ext cx="276225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F2EFE9"/>
                </a:solidFill>
                <a:latin typeface="Helvetica Neue"/>
                <a:ea typeface="Helvetica Neue"/>
                <a:cs typeface="Helvetica Neue"/>
              </a:defRPr>
            </a:pPr>
            <a:r>
              <a:rPr sz="3000" b="1">
                <a:solidFill>
                  <a:srgbClr val="F2EFE9"/>
                </a:solidFill>
                <a:latin typeface="Helvetica Neue"/>
                <a:ea typeface="Helvetica Neue"/>
                <a:cs typeface="Helvetica Neue"/>
              </a:rPr>
              <a:t>Google</a:t>
            </a:r>
          </a:p>
          <a:p xmlns:a="http://schemas.openxmlformats.org/drawingml/2006/main">
            <a:pPr>
              <a:defRPr sz="3000" b="1">
                <a:solidFill>
                  <a:srgbClr val="F2EFE9"/>
                </a:solidFill>
                <a:latin typeface="Helvetica Neue"/>
                <a:ea typeface="Helvetica Neue"/>
                <a:cs typeface="Helvetica Neue"/>
              </a:defRPr>
            </a:pPr>
            <a:r>
              <a:rPr sz="3000" b="1">
                <a:solidFill>
                  <a:srgbClr val="F2EFE9"/>
                </a:solidFill>
                <a:latin typeface="Helvetica Neue"/>
                <a:ea typeface="Helvetica Neue"/>
                <a:cs typeface="Helvetica Neue"/>
              </a:rPr>
              <a:t>Calendar</a:t>
            </a:r>
          </a:p>
          <a:p xmlns:a="http://schemas.openxmlformats.org/drawingml/2006/main">
            <a:pPr>
              <a:defRPr sz="3000" b="1">
                <a:solidFill>
                  <a:srgbClr val="F2EFE9"/>
                </a:solidFill>
                <a:latin typeface="Helvetica Neue"/>
                <a:ea typeface="Helvetica Neue"/>
                <a:cs typeface="Helvetica Neue"/>
              </a:defRPr>
            </a:pPr>
            <a:r>
              <a:rPr sz="3000" b="1">
                <a:solidFill>
                  <a:srgbClr val="F2EFE9"/>
                </a:solidFill>
                <a:latin typeface="Helvetica Neue"/>
                <a:ea typeface="Helvetica Neue"/>
                <a:cs typeface="Helvetica Neue"/>
              </a:rPr>
              <a:t>Gmail</a:t>
            </a:r>
          </a:p>
        </p:txBody>
      </p:sp>
      <p:sp>
        <p:nvSpPr>
          <p:cNvPr id="4" name="">
            <a:extLst xmlns:a="http://schemas.openxmlformats.org/drawingml/2006/main">
              <a:ext uri="{FF2B5EF4-FFF2-40B4-BE49-F238E27FC236}">
                <a16:creationId xmlns:a16="http://schemas.microsoft.com/office/drawing/2014/main" id="{A39C53D4-195C-4387-B464-72B5CCB4FBF8}"/>
              </a:ext>
            </a:extLst>
          </p:cNvPr>
          <p:cNvSpPr>
            <a:spLocks xmlns:a="http://schemas.openxmlformats.org/drawingml/2006/main" noGrp="1"/>
          </p:cNvSpPr>
          <p:nvPr/>
        </p:nvSpPr>
        <p:spPr>
          <a:xfrm xmlns:a="http://schemas.openxmlformats.org/drawingml/2006/main">
            <a:off x="4476750" y="2143125"/>
            <a:ext cx="3238500" cy="2095500"/>
          </a:xfrm>
          <a:prstGeom xmlns:a="http://schemas.openxmlformats.org/drawingml/2006/main" prst="rect">
            <a:avLst/>
          </a:prstGeom>
          <a:solidFill xmlns:a="http://schemas.openxmlformats.org/drawingml/2006/main">
            <a:srgbClr val="654330"/>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D9C62627-2CE8-480B-97B5-DF44488C5852}"/>
              </a:ext>
            </a:extLst>
          </p:cNvPr>
          <p:cNvSpPr>
            <a:spLocks xmlns:a="http://schemas.openxmlformats.org/drawingml/2006/main" noGrp="1"/>
          </p:cNvSpPr>
          <p:nvPr/>
        </p:nvSpPr>
        <p:spPr>
          <a:xfrm xmlns:a="http://schemas.openxmlformats.org/drawingml/2006/main">
            <a:off x="4667250" y="2333625"/>
            <a:ext cx="28575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F2EFE9"/>
                </a:solidFill>
                <a:latin typeface="Helvetica Neue"/>
                <a:ea typeface="Helvetica Neue"/>
                <a:cs typeface="Helvetica Neue"/>
              </a:defRPr>
            </a:pPr>
            <a:r>
              <a:rPr sz="3000" b="1">
                <a:solidFill>
                  <a:srgbClr val="F2EFE9"/>
                </a:solidFill>
                <a:latin typeface="Helvetica Neue"/>
                <a:ea typeface="Helvetica Neue"/>
                <a:cs typeface="Helvetica Neue"/>
              </a:rPr>
              <a:t>Steel</a:t>
            </a:r>
          </a:p>
          <a:p xmlns:a="http://schemas.openxmlformats.org/drawingml/2006/main">
            <a:pPr>
              <a:defRPr sz="3000" b="1">
                <a:solidFill>
                  <a:srgbClr val="F2EFE9"/>
                </a:solidFill>
                <a:latin typeface="Helvetica Neue"/>
                <a:ea typeface="Helvetica Neue"/>
                <a:cs typeface="Helvetica Neue"/>
              </a:defRPr>
            </a:pPr>
            <a:r>
              <a:rPr sz="3000" b="1">
                <a:solidFill>
                  <a:srgbClr val="F2EFE9"/>
                </a:solidFill>
                <a:latin typeface="Helvetica Neue"/>
                <a:ea typeface="Helvetica Neue"/>
                <a:cs typeface="Helvetica Neue"/>
              </a:rPr>
              <a:t>Computer</a:t>
            </a:r>
          </a:p>
          <a:p xmlns:a="http://schemas.openxmlformats.org/drawingml/2006/main">
            <a:pPr>
              <a:defRPr sz="3000" b="1">
                <a:solidFill>
                  <a:srgbClr val="F2EFE9"/>
                </a:solidFill>
                <a:latin typeface="Helvetica Neue"/>
                <a:ea typeface="Helvetica Neue"/>
                <a:cs typeface="Helvetica Neue"/>
              </a:defRPr>
            </a:pPr>
            <a:r>
              <a:rPr sz="3000" b="1">
                <a:solidFill>
                  <a:srgbClr val="F2EFE9"/>
                </a:solidFill>
                <a:latin typeface="Helvetica Neue"/>
                <a:ea typeface="Helvetica Neue"/>
                <a:cs typeface="Helvetica Neue"/>
              </a:rPr>
              <a:t>AMMA loop</a:t>
            </a:r>
          </a:p>
        </p:txBody>
      </p:sp>
      <p:sp>
        <p:nvSpPr>
          <p:cNvPr id="6" name="">
            <a:extLst xmlns:a="http://schemas.openxmlformats.org/drawingml/2006/main">
              <a:ext uri="{FF2B5EF4-FFF2-40B4-BE49-F238E27FC236}">
                <a16:creationId xmlns:a16="http://schemas.microsoft.com/office/drawing/2014/main" id="{AC4F904D-3A51-40DF-A72A-BBB8D2AB7B43}"/>
              </a:ext>
            </a:extLst>
          </p:cNvPr>
          <p:cNvSpPr>
            <a:spLocks xmlns:a="http://schemas.openxmlformats.org/drawingml/2006/main" noGrp="1"/>
          </p:cNvSpPr>
          <p:nvPr/>
        </p:nvSpPr>
        <p:spPr>
          <a:xfrm xmlns:a="http://schemas.openxmlformats.org/drawingml/2006/main">
            <a:off x="8477250" y="2143125"/>
            <a:ext cx="3143250" cy="2095500"/>
          </a:xfrm>
          <a:prstGeom xmlns:a="http://schemas.openxmlformats.org/drawingml/2006/main" prst="rect">
            <a:avLst/>
          </a:prstGeom>
          <a:solidFill xmlns:a="http://schemas.openxmlformats.org/drawingml/2006/main">
            <a:srgbClr val="252828"/>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52C87676-565E-455B-B8DD-843D70026A6F}"/>
              </a:ext>
            </a:extLst>
          </p:cNvPr>
          <p:cNvSpPr>
            <a:spLocks xmlns:a="http://schemas.openxmlformats.org/drawingml/2006/main" noGrp="1"/>
          </p:cNvSpPr>
          <p:nvPr/>
        </p:nvSpPr>
        <p:spPr>
          <a:xfrm xmlns:a="http://schemas.openxmlformats.org/drawingml/2006/main">
            <a:off x="8667750" y="2333625"/>
            <a:ext cx="276225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F2EFE9"/>
                </a:solidFill>
                <a:latin typeface="Helvetica Neue"/>
                <a:ea typeface="Helvetica Neue"/>
                <a:cs typeface="Helvetica Neue"/>
              </a:defRPr>
            </a:pPr>
            <a:r>
              <a:rPr sz="3000" b="1">
                <a:solidFill>
                  <a:srgbClr val="F2EFE9"/>
                </a:solidFill>
                <a:latin typeface="Helvetica Neue"/>
                <a:ea typeface="Helvetica Neue"/>
                <a:cs typeface="Helvetica Neue"/>
              </a:rPr>
              <a:t>Steel Browser</a:t>
            </a:r>
          </a:p>
          <a:p xmlns:a="http://schemas.openxmlformats.org/drawingml/2006/main">
            <a:pPr>
              <a:defRPr sz="3000" b="1">
                <a:solidFill>
                  <a:srgbClr val="F2EFE9"/>
                </a:solidFill>
                <a:latin typeface="Helvetica Neue"/>
                <a:ea typeface="Helvetica Neue"/>
                <a:cs typeface="Helvetica Neue"/>
              </a:defRPr>
            </a:pPr>
            <a:r>
              <a:rPr sz="3000" b="1">
                <a:solidFill>
                  <a:srgbClr val="F2EFE9"/>
                </a:solidFill>
                <a:latin typeface="Helvetica Neue"/>
                <a:ea typeface="Helvetica Neue"/>
                <a:cs typeface="Helvetica Neue"/>
              </a:rPr>
              <a:t>Instagram</a:t>
            </a:r>
          </a:p>
        </p:txBody>
      </p:sp>
      <p:sp>
        <p:nvSpPr>
          <p:cNvPr id="8" name="">
            <a:extLst xmlns:a="http://schemas.openxmlformats.org/drawingml/2006/main">
              <a:ext uri="{FF2B5EF4-FFF2-40B4-BE49-F238E27FC236}">
                <a16:creationId xmlns:a16="http://schemas.microsoft.com/office/drawing/2014/main" id="{20AEA312-5E08-46E6-BB95-5166729297D9}"/>
              </a:ext>
            </a:extLst>
          </p:cNvPr>
          <p:cNvSpPr>
            <a:spLocks xmlns:a="http://schemas.openxmlformats.org/drawingml/2006/main" noGrp="1"/>
          </p:cNvSpPr>
          <p:nvPr/>
        </p:nvSpPr>
        <p:spPr>
          <a:xfrm xmlns:a="http://schemas.openxmlformats.org/drawingml/2006/main">
            <a:off x="3714750" y="3152775"/>
            <a:ext cx="762000" cy="38100"/>
          </a:xfrm>
          <a:prstGeom xmlns:a="http://schemas.openxmlformats.org/drawingml/2006/main" prst="rect">
            <a:avLst/>
          </a:prstGeom>
          <a:solidFill xmlns:a="http://schemas.openxmlformats.org/drawingml/2006/main">
            <a:srgbClr val="A8AAA6"/>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1AC47D57-A587-4B8C-B50E-A38A55176219}"/>
              </a:ext>
            </a:extLst>
          </p:cNvPr>
          <p:cNvSpPr>
            <a:spLocks xmlns:a="http://schemas.openxmlformats.org/drawingml/2006/main" noGrp="1"/>
          </p:cNvSpPr>
          <p:nvPr/>
        </p:nvSpPr>
        <p:spPr>
          <a:xfrm xmlns:a="http://schemas.openxmlformats.org/drawingml/2006/main">
            <a:off x="7715250" y="3152775"/>
            <a:ext cx="762000" cy="38100"/>
          </a:xfrm>
          <a:prstGeom xmlns:a="http://schemas.openxmlformats.org/drawingml/2006/main" prst="rect">
            <a:avLst/>
          </a:prstGeom>
          <a:solidFill xmlns:a="http://schemas.openxmlformats.org/drawingml/2006/main">
            <a:srgbClr val="A8AAA6"/>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44C9C8D0-FD50-4287-A5B8-279DE166A464}"/>
              </a:ext>
            </a:extLst>
          </p:cNvPr>
          <p:cNvSpPr>
            <a:spLocks xmlns:a="http://schemas.openxmlformats.org/drawingml/2006/main" noGrp="1"/>
          </p:cNvSpPr>
          <p:nvPr/>
        </p:nvSpPr>
        <p:spPr>
          <a:xfrm xmlns:a="http://schemas.openxmlformats.org/drawingml/2006/main">
            <a:off x="6076950" y="4238625"/>
            <a:ext cx="38100" cy="333375"/>
          </a:xfrm>
          <a:prstGeom xmlns:a="http://schemas.openxmlformats.org/drawingml/2006/main" prst="rect">
            <a:avLst/>
          </a:prstGeom>
          <a:solidFill xmlns:a="http://schemas.openxmlformats.org/drawingml/2006/main">
            <a:srgbClr val="A8AAA6"/>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FAB0C792-5752-4355-8559-E3F5BD54DBA8}"/>
              </a:ext>
            </a:extLst>
          </p:cNvPr>
          <p:cNvSpPr>
            <a:spLocks xmlns:a="http://schemas.openxmlformats.org/drawingml/2006/main" noGrp="1"/>
          </p:cNvSpPr>
          <p:nvPr/>
        </p:nvSpPr>
        <p:spPr>
          <a:xfrm xmlns:a="http://schemas.openxmlformats.org/drawingml/2006/main">
            <a:off x="3048000" y="4572000"/>
            <a:ext cx="6096000" cy="952500"/>
          </a:xfrm>
          <a:prstGeom xmlns:a="http://schemas.openxmlformats.org/drawingml/2006/main" prst="rect">
            <a:avLst/>
          </a:prstGeom>
          <a:solidFill xmlns:a="http://schemas.openxmlformats.org/drawingml/2006/main">
            <a:srgbClr val="252828"/>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F865FEB6-8541-4CBE-AC39-07FABD176533}"/>
              </a:ext>
            </a:extLst>
          </p:cNvPr>
          <p:cNvSpPr>
            <a:spLocks xmlns:a="http://schemas.openxmlformats.org/drawingml/2006/main" noGrp="1"/>
          </p:cNvSpPr>
          <p:nvPr/>
        </p:nvSpPr>
        <p:spPr>
          <a:xfrm xmlns:a="http://schemas.openxmlformats.org/drawingml/2006/main">
            <a:off x="3238500" y="4762500"/>
            <a:ext cx="5715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F2EFE9"/>
                </a:solidFill>
                <a:latin typeface="Helvetica Neue"/>
                <a:ea typeface="Helvetica Neue"/>
                <a:cs typeface="Helvetica Neue"/>
              </a:defRPr>
            </a:pPr>
            <a:r>
              <a:rPr sz="3000" b="1">
                <a:solidFill>
                  <a:srgbClr val="F2EFE9"/>
                </a:solidFill>
                <a:latin typeface="Helvetica Neue"/>
                <a:ea typeface="Helvetica Neue"/>
                <a:cs typeface="Helvetica Neue"/>
              </a:rPr>
              <a:t>Disk: state, photos, undo log</a:t>
            </a:r>
          </a:p>
        </p:txBody>
      </p:sp>
      <p:sp>
        <p:nvSpPr>
          <p:cNvPr id="13" name="">
            <a:extLst xmlns:a="http://schemas.openxmlformats.org/drawingml/2006/main">
              <a:ext uri="{FF2B5EF4-FFF2-40B4-BE49-F238E27FC236}">
                <a16:creationId xmlns:a16="http://schemas.microsoft.com/office/drawing/2014/main" id="{2F55111E-FB9E-4AF2-A6D5-C97218306B7D}"/>
              </a:ext>
            </a:extLst>
          </p:cNvPr>
          <p:cNvSpPr>
            <a:spLocks xmlns:a="http://schemas.openxmlformats.org/drawingml/2006/main" noGrp="1"/>
          </p:cNvSpPr>
          <p:nvPr/>
        </p:nvSpPr>
        <p:spPr>
          <a:xfrm xmlns:a="http://schemas.openxmlformats.org/drawingml/2006/main">
            <a:off x="685800" y="5953125"/>
            <a:ext cx="1076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0">
                <a:solidFill>
                  <a:srgbClr val="A8AAA6"/>
                </a:solidFill>
                <a:latin typeface="Helvetica Neue"/>
                <a:ea typeface="Helvetica Neue"/>
                <a:cs typeface="Helvetica Neue"/>
              </a:defRPr>
            </a:pPr>
            <a:r>
              <a:rPr sz="3000" b="0">
                <a:solidFill>
                  <a:srgbClr val="A8AAA6"/>
                </a:solidFill>
                <a:latin typeface="Helvetica Neue"/>
                <a:ea typeface="Helvetica Neue"/>
                <a:cs typeface="Helvetica Neue"/>
              </a:rPr>
              <a:t>Cloud loop verified · browser restore pending</a:t>
            </a:r>
          </a:p>
        </p:txBody>
      </p:sp>
    </p:spTree>
    <p:extLst>
      <p:ext uri="{BB962C8B-B14F-4D97-AF65-F5344CB8AC3E}">
        <p14:creationId xmlns:p14="http://schemas.microsoft.com/office/powerpoint/2010/main" val="466916393"/>
      </p:ext>
    </p:extLst>
  </p:cSld>
</p:sld>
</file>

<file path=ppt/slides/slide6.xml><?xml version="1.0" encoding="utf-8"?>
<p:sld xmlns:p="http://schemas.openxmlformats.org/presentationml/2006/main">
  <p:cSld>
    <p:bg>
      <p:bgPr>
        <a:solidFill xmlns:a="http://schemas.openxmlformats.org/drawingml/2006/main">
          <a:srgbClr val="101111"/>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E992D830-9706-4186-8C4C-192691F7F6BA}"/>
              </a:ext>
            </a:extLst>
          </p:cNvPr>
          <p:cNvSpPr>
            <a:spLocks xmlns:a="http://schemas.openxmlformats.org/drawingml/2006/main" noGrp="1"/>
          </p:cNvSpPr>
          <p:nvPr/>
        </p:nvSpPr>
        <p:spPr>
          <a:xfrm xmlns:a="http://schemas.openxmlformats.org/drawingml/2006/main">
            <a:off x="685800" y="571500"/>
            <a:ext cx="10763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800" b="1">
                <a:solidFill>
                  <a:srgbClr val="F2EFE9"/>
                </a:solidFill>
                <a:latin typeface="Helvetica Neue"/>
                <a:ea typeface="Helvetica Neue"/>
                <a:cs typeface="Helvetica Neue"/>
              </a:defRPr>
            </a:pPr>
            <a:r>
              <a:rPr sz="4800" b="1">
                <a:solidFill>
                  <a:srgbClr val="F2EFE9"/>
                </a:solidFill>
                <a:latin typeface="Helvetica Neue"/>
                <a:ea typeface="Helvetica Neue"/>
                <a:cs typeface="Helvetica Neue"/>
              </a:rPr>
              <a:t>Why its own computer?</a:t>
            </a:r>
          </a:p>
        </p:txBody>
      </p:sp>
      <p:sp>
        <p:nvSpPr>
          <p:cNvPr id="2" name="">
            <a:extLst xmlns:a="http://schemas.openxmlformats.org/drawingml/2006/main">
              <a:ext uri="{FF2B5EF4-FFF2-40B4-BE49-F238E27FC236}">
                <a16:creationId xmlns:a16="http://schemas.microsoft.com/office/drawing/2014/main" id="{05E884D2-4FDD-44AD-BE00-0F6F42271CAB}"/>
              </a:ext>
            </a:extLst>
          </p:cNvPr>
          <p:cNvSpPr>
            <a:spLocks xmlns:a="http://schemas.openxmlformats.org/drawingml/2006/main" noGrp="1"/>
          </p:cNvSpPr>
          <p:nvPr/>
        </p:nvSpPr>
        <p:spPr>
          <a:xfrm xmlns:a="http://schemas.openxmlformats.org/drawingml/2006/main">
            <a:off x="685800" y="2143125"/>
            <a:ext cx="10668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800" b="1">
                <a:solidFill>
                  <a:srgbClr val="F2EFE9"/>
                </a:solidFill>
                <a:latin typeface="Helvetica Neue"/>
                <a:ea typeface="Helvetica Neue"/>
                <a:cs typeface="Helvetica Neue"/>
              </a:defRPr>
            </a:pPr>
            <a:r>
              <a:rPr sz="4800" b="1">
                <a:solidFill>
                  <a:srgbClr val="F2EFE9"/>
                </a:solidFill>
                <a:latin typeface="Helvetica Neue"/>
                <a:ea typeface="Helvetica Neue"/>
                <a:cs typeface="Helvetica Neue"/>
              </a:rPr>
              <a:t>It lives for 18 hours.</a:t>
            </a:r>
          </a:p>
        </p:txBody>
      </p:sp>
      <p:sp>
        <p:nvSpPr>
          <p:cNvPr id="3" name="">
            <a:extLst xmlns:a="http://schemas.openxmlformats.org/drawingml/2006/main">
              <a:ext uri="{FF2B5EF4-FFF2-40B4-BE49-F238E27FC236}">
                <a16:creationId xmlns:a16="http://schemas.microsoft.com/office/drawing/2014/main" id="{B256A0B1-D760-4FBD-9DFA-8F45794EA1BF}"/>
              </a:ext>
            </a:extLst>
          </p:cNvPr>
          <p:cNvSpPr>
            <a:spLocks xmlns:a="http://schemas.openxmlformats.org/drawingml/2006/main" noGrp="1"/>
          </p:cNvSpPr>
          <p:nvPr/>
        </p:nvSpPr>
        <p:spPr>
          <a:xfrm xmlns:a="http://schemas.openxmlformats.org/drawingml/2006/main">
            <a:off x="685800" y="3286125"/>
            <a:ext cx="10668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800" b="1">
                <a:solidFill>
                  <a:srgbClr val="F2EFE9"/>
                </a:solidFill>
                <a:latin typeface="Helvetica Neue"/>
                <a:ea typeface="Helvetica Neue"/>
                <a:cs typeface="Helvetica Neue"/>
              </a:defRPr>
            </a:pPr>
            <a:r>
              <a:rPr sz="4800" b="1">
                <a:solidFill>
                  <a:srgbClr val="F2EFE9"/>
                </a:solidFill>
                <a:latin typeface="Helvetica Neue"/>
                <a:ea typeface="Helvetica Neue"/>
                <a:cs typeface="Helvetica Neue"/>
              </a:rPr>
              <a:t>It accumulates.</a:t>
            </a:r>
          </a:p>
        </p:txBody>
      </p:sp>
      <p:sp>
        <p:nvSpPr>
          <p:cNvPr id="4" name="">
            <a:extLst xmlns:a="http://schemas.openxmlformats.org/drawingml/2006/main">
              <a:ext uri="{FF2B5EF4-FFF2-40B4-BE49-F238E27FC236}">
                <a16:creationId xmlns:a16="http://schemas.microsoft.com/office/drawing/2014/main" id="{296F1149-3FD1-4729-95A6-3ACCF5240A37}"/>
              </a:ext>
            </a:extLst>
          </p:cNvPr>
          <p:cNvSpPr>
            <a:spLocks xmlns:a="http://schemas.openxmlformats.org/drawingml/2006/main" noGrp="1"/>
          </p:cNvSpPr>
          <p:nvPr/>
        </p:nvSpPr>
        <p:spPr>
          <a:xfrm xmlns:a="http://schemas.openxmlformats.org/drawingml/2006/main">
            <a:off x="685800" y="4429125"/>
            <a:ext cx="10668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800" b="1">
                <a:solidFill>
                  <a:srgbClr val="FF9A62"/>
                </a:solidFill>
                <a:latin typeface="Helvetica Neue"/>
                <a:ea typeface="Helvetica Neue"/>
                <a:cs typeface="Helvetica Neue"/>
              </a:defRPr>
            </a:pPr>
            <a:r>
              <a:rPr sz="4800" b="1">
                <a:solidFill>
                  <a:srgbClr val="FF9A62"/>
                </a:solidFill>
                <a:latin typeface="Helvetica Neue"/>
                <a:ea typeface="Helvetica Neue"/>
                <a:cs typeface="Helvetica Neue"/>
              </a:rPr>
              <a:t>Its state is a savable object.</a:t>
            </a:r>
          </a:p>
        </p:txBody>
      </p:sp>
      <p:sp>
        <p:nvSpPr>
          <p:cNvPr id="5" name="">
            <a:extLst xmlns:a="http://schemas.openxmlformats.org/drawingml/2006/main">
              <a:ext uri="{FF2B5EF4-FFF2-40B4-BE49-F238E27FC236}">
                <a16:creationId xmlns:a16="http://schemas.microsoft.com/office/drawing/2014/main" id="{8C80FC17-EFD9-490A-8724-D1F466A4D9AC}"/>
              </a:ext>
            </a:extLst>
          </p:cNvPr>
          <p:cNvSpPr>
            <a:spLocks xmlns:a="http://schemas.openxmlformats.org/drawingml/2006/main" noGrp="1"/>
          </p:cNvSpPr>
          <p:nvPr/>
        </p:nvSpPr>
        <p:spPr>
          <a:xfrm xmlns:a="http://schemas.openxmlformats.org/drawingml/2006/main">
            <a:off x="685800" y="5905500"/>
            <a:ext cx="1076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0">
                <a:solidFill>
                  <a:srgbClr val="A8AAA6"/>
                </a:solidFill>
                <a:latin typeface="Helvetica Neue"/>
                <a:ea typeface="Helvetica Neue"/>
                <a:cs typeface="Helvetica Neue"/>
              </a:defRPr>
            </a:pPr>
            <a:r>
              <a:rPr sz="3000" b="0">
                <a:solidFill>
                  <a:srgbClr val="A8AAA6"/>
                </a:solidFill>
                <a:latin typeface="Helvetica Neue"/>
                <a:ea typeface="Helvetica Neue"/>
                <a:cs typeface="Helvetica Neue"/>
              </a:rPr>
              <a:t>Endurance run active · restore proof pending</a:t>
            </a:r>
          </a:p>
        </p:txBody>
      </p:sp>
    </p:spTree>
    <p:extLst>
      <p:ext uri="{BB962C8B-B14F-4D97-AF65-F5344CB8AC3E}">
        <p14:creationId xmlns:p14="http://schemas.microsoft.com/office/powerpoint/2010/main" val="550654082"/>
      </p:ext>
    </p:extLst>
  </p:cSld>
</p:sld>
</file>

<file path=ppt/slides/slide7.xml><?xml version="1.0" encoding="utf-8"?>
<p:sld xmlns:p="http://schemas.openxmlformats.org/presentationml/2006/main">
  <p:cSld>
    <p:bg>
      <p:bgPr>
        <a:solidFill xmlns:a="http://schemas.openxmlformats.org/drawingml/2006/main">
          <a:srgbClr val="101111"/>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97387CDF-6DC5-4E31-89C0-28E4FA708584}"/>
              </a:ext>
            </a:extLst>
          </p:cNvPr>
          <p:cNvSpPr>
            <a:spLocks xmlns:a="http://schemas.openxmlformats.org/drawingml/2006/main" noGrp="1"/>
          </p:cNvSpPr>
          <p:nvPr/>
        </p:nvSpPr>
        <p:spPr>
          <a:xfrm xmlns:a="http://schemas.openxmlformats.org/drawingml/2006/main">
            <a:off x="685800" y="2238375"/>
            <a:ext cx="10668000" cy="2190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0" b="1">
                <a:solidFill>
                  <a:srgbClr val="FF9A62"/>
                </a:solidFill>
                <a:latin typeface="Helvetica Neue"/>
                <a:ea typeface="Helvetica Neue"/>
                <a:cs typeface="Helvetica Neue"/>
              </a:defRPr>
            </a:pPr>
            <a:r>
              <a:rPr sz="13500" b="1">
                <a:solidFill>
                  <a:srgbClr val="FF9A62"/>
                </a:solidFill>
                <a:latin typeface="Helvetica Neue"/>
                <a:ea typeface="Helvetica Neue"/>
                <a:cs typeface="Helvetica Neue"/>
              </a:rPr>
              <a:t>Demo.</a:t>
            </a:r>
          </a:p>
        </p:txBody>
      </p:sp>
    </p:spTree>
    <p:extLst>
      <p:ext uri="{BB962C8B-B14F-4D97-AF65-F5344CB8AC3E}">
        <p14:creationId xmlns:p14="http://schemas.microsoft.com/office/powerpoint/2010/main" val="212082676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2026-09-12T22:36:56.7140000Z</dcterms:created>
  <dcterms:modified xsi:type="dcterms:W3CDTF">2026-09-12T22:36:56.7140000Z</dcterms:modified>
</coreProperties>
</file>